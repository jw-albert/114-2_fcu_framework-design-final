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開場：大家好，我們這組做的是『公司車輛管理系統』。這份報告的重點不是功能多寡，而是我們如何用物件導向設計原則與十個 GoF 設計模式，把一個會不斷擴充的系統設計得可維護、可測試、可替換。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先講為什麼要做這個系統。企業車輛常用紙本或 Excel 借用，三個痛點：時段衝突事後才發現、審核軌跡不透明、最關鍵的是難以擴充——通知方式跟衝突規則都寫死了，改一處就動全身。最後這點正是設計模式要解決的問題。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系統核心是一條借車工作流程：員工送出申請進入 PENDING，管理員核准或拒絕，核准後標記出車進入 IN_USE，最後還車。圍繞這條主線有六大功能模組——認證、車輛、借車、審核、保養、違規。角色分為管理員、主管、員工三種，其中主管僅能審核同部門員工的申請。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技術上是 Spring Boot 3 加 Vue 3 的全棧。後端用 Java 21、Spring Security 配 JWT 做無狀態認證、JPA 加 Flyway 管資料庫。前端 Vue 3 配 TypeScript、Pinia 狀態管理。建構與部署用 Maven Wrapper、GitHub Actions、PM2 與 Cloudflare Tunnel。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架構分五層。重點在中間這條 Repository 介面層——它是依賴反轉的邊界。上面的 Service 與 Domain 只依賴介面，下面的 Infrastructure 用 JPA Adapter 去實作這些介面。也就是說，底層的持久化細節在編譯期被反轉掉，上層完全不感知 JPA 的存在。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接下來是報告的重點。我們實作了十個 GoF 設計模式，涵蓋行為型、創建型、結構型三大分類，其中四個是後期用來重構既有設計的。每一個模式都對應一個真實的擴充痛點，不是為了用而用。等下先深入講前三個行為型的 State、Observer、Strategy。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這張類別圖是整個領域模型的全貌。可以看到幾個模式同時出現在這裡：右邊 BorrowingRequest 持有 BorrowingState 介面跟它的五個具體狀態，這是 State；左邊 RoleFactory 建立 Role，這是 Factory；最右邊 Publisher 與 Observer 是 Observer 模式。先有個全局印象，接下來逐一拆解。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第一個深入講 State。問題是借車申請有五種狀態，每種只允許特定轉換，如果用 if-else 判斷狀態字串，Service 層會充滿分支。解法是 BorrowingRequest 當 Context，持有 BorrowingState 介面，把每種狀態的轉換邏輯封裝在各自的 ConcreteState。非法轉換——例如對已還車的申請再核准——會拋出 InvalidStateTransitionException 回 HTTP 422。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第二個是 Observer。問題是狀態變更時要通知人，但通知方式——Email、簡訊、推播——不該寫死在 Service 裡。解法：BorrowingService 繼承 BorrowingEventPublisher，Spring 自動注入所有實作 Observer 介面的 Bean，Service 只呼叫 notifyApproved，不感知具體實作。目前已有兩個實作：EmailNotificationObserver 寄出 Email、InboxNotificationObserver 寫入站內收件夾。最棒的是要新增一個通知管道，只要實作介面再標記 @Component，完全不用改任何現有程式碼——這就是開放封閉原則。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第三個是 Strategy。問題：衝突判斷的演算法有很多種——嚴格重疊、寬鬆同日、加緩衝時間——如果寫死在 Service，換邏輯就要改 Service 本身。解法：定義 ConflictCheckStrategy 介面，StrictOverlapStrategy 是預設實作，透過 Spring 依賴注入給 Service。要換策略只要換一個 @Bean 設定，Service 完全不動，一樣是開放封閉原則。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第四個是 Template Method。問題：VehicleService、MaintenanceService、UserService 每個 public 方法都以相同的權限檢查開頭，違反 DRY，未來要加稽核日誌得改每一個。解法是 AbstractProtectedService 定義「先驗證、後執行」的演算法骨架，子類只用 lambda 提供真正的業務邏輯，權限與稽核集中在一處。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第五個是 Factory Method。問題：UserService 需要依字串例如 ADMIN 建立對應的 Role 物件，若直接 new AdminRole 會產生對具體類別的依賴。解法是 RoleFactory.create 集中管理建立，呼叫端只依賴 Role 介面。新增角色——例如後來加的 MANAGER——只要加一個類別跟一行 case，呼叫端完全不用改。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第六個是 Adapter。問題：Domain 層定義了 IVehicleRepository 等領域介面，但持久化用 Spring Data JPA，它的介面跟 Domain 介面不相容。解法是每個 RepositoryAdapter 實作 Domain 介面當作 Target，內部持有 JPA Repository 當 Adaptee，透過 toDomain 跟 toEntity 雙向轉換橋接。這樣 Service 層完全不感知 JPA 的存在，五個 Adapter 結構都相同。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第七個是 Builder，這是後期用來重構 Adapter 的。問題：BorrowingRepositoryAdapter 的 toDomain 從資料庫還原物件時，得呼叫 approve、startUse 這些有副作用的方法去重播狀態轉換，不但會觸發 Observer 通知、邏輯也很脆弱。解法是 BorrowingRequest.Builder 提供 restoreState 方法直接設定目標狀態，完全繞過 transition 的副作用，讓還原邏輯清晰又安全。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第八個是 Chain of Responsibility，重構 submitRequest 的驗證。問題：送出申請要依序做權限檢查、車輛存在、時段衝突三步驗證，全寫在一個方法裡，新增驗證規則就得改 Service 本身。解法是三個驗證步驟各自實作 BorrowingValidator，標記 Component 跟 Order，Spring 依序注入成一條責任鏈，Service 只要 forEach 逐一呼叫 validate。新增規則只要加一個 Validator，不用改 Service。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第九個是 Decorator，重構 Strategy 的緩衝規則。問題：想在嚴格重疊策略上加「借車前後保留三十分鐘緩衝」，直接改 StrictOverlapStrategy 會讓邏輯複雜，也難在不同情境切換要不要啟用。解法是 BufferedOverlapDecorator 包裝任意 ConflictCheckStrategy，在委派前後把時段往外延伸，完全不改被包裝的策略，再用 Spring 的 Bean Primary 選擇性啟用。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第十個是 Command，重構 Controller 的狀態操作。問題：BorrowingController 直接呼叫 service.approveRequest 這些方法，稽核日誌、非同步處理這些橫切關注點散在各個 endpoint，無法統一管理。解法是把每個狀態變更操作封裝成 BorrowingCommand——Approve、Reject、StartUse、Complete 四個——由 BorrowingCommandBus 統一執行並記錄稽核日誌。未來要加命令佇列、重試、非同步，都只改 CommandBus，不用動任何 Command 實作。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這頁是完整借車工作流程，依生命週期拆成四個階段，每個階段聚焦一個 REST 端點與它涉及的設計模式，避免單一大圖資訊過載。階段一送出申請，走 Chain of Responsibility 責任鏈做三步驗證，再用 State 建立 PendingState。階段二審核，用 Command 封裝操作並集中稽核，State 做狀態轉換，Observer 廣播事件發 Email；主管還會多一道同部門範圍檢查。階段三出車、階段四還車都是同樣的 Command、State、Observer 三模式協作；還車時若逾時，會自動建立 OVERDUE 違規記錄。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把設計模式背後的原則收斂一下。SOLID 五原則加上迪米特法則跟 DRY，都落在系統的具體位置：SRP 是 Service 拆分、OCP 是三個模式的擴充免改、DIP 是 Repository 介面、LoD 是 Service 委派給狀態物件、DRY 是抽象權限守衛、還有用組合而非繼承來組裝角色與權限。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測試分兩層。單元測試用 InMemory Repository，不碰資料庫，毫秒級就跑完——這正是依賴反轉帶來的可測試性。整合測試用 WebMvcTest 測 HTTP 層，涵蓋狀態碼、JSON 序列化、JWT 守衛、以及 401 未認證跟 403 權限拒絕。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部署是全自動的。推送 v 開頭的 tag 會觸發 GitHub Actions：建置後端 JAR、SCP 上傳到 VPS、SSH 進去用 PM2 重啟前後端，最後透過 Cloudflare Tunnel 對外。刻意只用 tag 觸發，不監聽 push to main，這樣能精準控制部署時機、節省額度。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最後總結。我們總共實作了十個 GoF 設計模式，特別的是其中四個——Builder、Chain of Responsibility、Decorator、Command——是用來重構既有設計、消除痛點的。後續還能再擴充：新增簡訊或 Line 通知、正式環境啟用緩衝策略、加入更多驗證器、以及命令佇列與非同步。三個收穫：十個模式都對應真實痛點不是為用而用、OOD 原則貫穿分層架構、介面與 DIP 讓系統可測試可替換可擴充。謝謝聆聽。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8750" y="1238250"/>
            <a:ext cx="1143000" cy="28575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3" name="Text 1"/>
          <p:cNvSpPr/>
          <p:nvPr/>
        </p:nvSpPr>
        <p:spPr>
          <a:xfrm>
            <a:off x="1428750" y="1666875"/>
            <a:ext cx="1697355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spc="600" kern="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逢甲大學 軟體框架設計 114-2 期末專題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428750" y="2595563"/>
            <a:ext cx="16973550" cy="1395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9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公司車輛管理系統</a:t>
            </a:r>
            <a:endParaRPr lang="en-US" sz="9900" dirty="0"/>
          </a:p>
        </p:txBody>
      </p:sp>
      <p:sp>
        <p:nvSpPr>
          <p:cNvPr id="5" name="Text 3"/>
          <p:cNvSpPr/>
          <p:nvPr/>
        </p:nvSpPr>
        <p:spPr>
          <a:xfrm>
            <a:off x="1428750" y="4201046"/>
            <a:ext cx="169735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i="1" dirty="0">
                <a:solidFill>
                  <a:srgbClr val="5753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Corporate Vehicle Management System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1428750" y="5210696"/>
            <a:ext cx="1697355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7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 OOD 原則與 10 個 GoF 設計模式為核心的全棧實作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428750" y="7753350"/>
            <a:ext cx="15430500" cy="1905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8" name="Text 6"/>
          <p:cNvSpPr/>
          <p:nvPr/>
        </p:nvSpPr>
        <p:spPr>
          <a:xfrm>
            <a:off x="1428750" y="8134350"/>
            <a:ext cx="835466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A8A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組員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428750" y="8548688"/>
            <a:ext cx="8354660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王建葦 D1210799 · 陳稚翔 D1249623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3978830" y="8705850"/>
            <a:ext cx="316846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demo.jw-albert.dev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38200"/>
            <a:ext cx="173926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225" kern="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動機 · MOTIVATION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238250" y="1323975"/>
            <a:ext cx="17392650" cy="81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5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問題與動機</a:t>
            </a:r>
            <a:endParaRPr lang="en-US" sz="5550" dirty="0"/>
          </a:p>
        </p:txBody>
      </p:sp>
      <p:sp>
        <p:nvSpPr>
          <p:cNvPr id="4" name="Shape 2"/>
          <p:cNvSpPr/>
          <p:nvPr/>
        </p:nvSpPr>
        <p:spPr>
          <a:xfrm>
            <a:off x="1238250" y="2404095"/>
            <a:ext cx="15811500" cy="1905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4252020"/>
            <a:ext cx="6514338" cy="2164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3600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企業車輛多以紙本與 Excel 借用，缺乏狀態追蹤與審核軌跡。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38250" y="6758955"/>
            <a:ext cx="6514338" cy="1013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240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目標 — 以物件導向設計打造可追蹤、可審核、且能持續擴充的車輛借用平台。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420100" y="5176317"/>
            <a:ext cx="862965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8" name="Text 6"/>
          <p:cNvSpPr/>
          <p:nvPr/>
        </p:nvSpPr>
        <p:spPr>
          <a:xfrm>
            <a:off x="8420100" y="3995217"/>
            <a:ext cx="41910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029700" y="3923779"/>
            <a:ext cx="471487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時段衝突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029700" y="4476229"/>
            <a:ext cx="471487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同一輛車重複借用，事後才發現。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8420100" y="6762229"/>
            <a:ext cx="862965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12" name="Text 10"/>
          <p:cNvSpPr/>
          <p:nvPr/>
        </p:nvSpPr>
        <p:spPr>
          <a:xfrm>
            <a:off x="8420100" y="5581129"/>
            <a:ext cx="41910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029700" y="5509692"/>
            <a:ext cx="56578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審核不透明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9029700" y="6062142"/>
            <a:ext cx="565785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申請、核准、出車、還車缺乏完整紀錄。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8420100" y="7167042"/>
            <a:ext cx="41910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029700" y="7095604"/>
            <a:ext cx="597217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難以擴充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9029700" y="7648054"/>
            <a:ext cx="597217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通知方式、衝突規則寫死，改一處動全身。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38200"/>
            <a:ext cx="173926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225" kern="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系統概觀 · OVERVIEW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238250" y="1323975"/>
            <a:ext cx="17392650" cy="81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5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系統概觀與借車工作流程</a:t>
            </a:r>
            <a:endParaRPr lang="en-US" sz="5550" dirty="0"/>
          </a:p>
        </p:txBody>
      </p:sp>
      <p:sp>
        <p:nvSpPr>
          <p:cNvPr id="4" name="Shape 2"/>
          <p:cNvSpPr/>
          <p:nvPr/>
        </p:nvSpPr>
        <p:spPr>
          <a:xfrm>
            <a:off x="1238250" y="2404095"/>
            <a:ext cx="15811500" cy="1905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5" name="Shape 3"/>
          <p:cNvSpPr/>
          <p:nvPr/>
        </p:nvSpPr>
        <p:spPr>
          <a:xfrm>
            <a:off x="1238250" y="3778523"/>
            <a:ext cx="3314700" cy="3243263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90675" y="4169048"/>
            <a:ext cx="287083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8A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員工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90675" y="4621485"/>
            <a:ext cx="2870835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申請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1590675" y="5316810"/>
            <a:ext cx="268814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送出借車申請 時段衝突檢查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1590675" y="6335985"/>
            <a:ext cx="287083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PENDING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62500" y="3778523"/>
            <a:ext cx="514350" cy="3281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450" dirty="0">
                <a:solidFill>
                  <a:srgbClr val="1E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450" dirty="0"/>
          </a:p>
        </p:txBody>
      </p:sp>
      <p:sp>
        <p:nvSpPr>
          <p:cNvPr id="11" name="Shape 9"/>
          <p:cNvSpPr/>
          <p:nvPr/>
        </p:nvSpPr>
        <p:spPr>
          <a:xfrm>
            <a:off x="5410200" y="3778523"/>
            <a:ext cx="3314700" cy="3243263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2625" y="4169048"/>
            <a:ext cx="287083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8A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管理員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762625" y="4621485"/>
            <a:ext cx="2870835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審核</a:t>
            </a:r>
            <a:endParaRPr lang="en-US" sz="3150" dirty="0"/>
          </a:p>
        </p:txBody>
      </p:sp>
      <p:sp>
        <p:nvSpPr>
          <p:cNvPr id="14" name="Text 12"/>
          <p:cNvSpPr/>
          <p:nvPr/>
        </p:nvSpPr>
        <p:spPr>
          <a:xfrm>
            <a:off x="5762625" y="5316810"/>
            <a:ext cx="268814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核准 / 拒絕 填寫審核備註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5762625" y="6335985"/>
            <a:ext cx="287083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APPROVED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934450" y="3778523"/>
            <a:ext cx="514350" cy="3281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450" dirty="0">
                <a:solidFill>
                  <a:srgbClr val="1E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450" dirty="0"/>
          </a:p>
        </p:txBody>
      </p:sp>
      <p:sp>
        <p:nvSpPr>
          <p:cNvPr id="17" name="Shape 15"/>
          <p:cNvSpPr/>
          <p:nvPr/>
        </p:nvSpPr>
        <p:spPr>
          <a:xfrm>
            <a:off x="9582150" y="3778523"/>
            <a:ext cx="3314700" cy="3243263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34575" y="4169048"/>
            <a:ext cx="287083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8A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管理員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934575" y="4621485"/>
            <a:ext cx="2870835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出車</a:t>
            </a:r>
            <a:endParaRPr lang="en-US" sz="3150" dirty="0"/>
          </a:p>
        </p:txBody>
      </p:sp>
      <p:sp>
        <p:nvSpPr>
          <p:cNvPr id="20" name="Text 18"/>
          <p:cNvSpPr/>
          <p:nvPr/>
        </p:nvSpPr>
        <p:spPr>
          <a:xfrm>
            <a:off x="9934575" y="5316810"/>
            <a:ext cx="268814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標記出車 車輛轉使用中</a:t>
            </a:r>
            <a:endParaRPr lang="en-US" sz="2025" dirty="0"/>
          </a:p>
        </p:txBody>
      </p:sp>
      <p:sp>
        <p:nvSpPr>
          <p:cNvPr id="21" name="Text 19"/>
          <p:cNvSpPr/>
          <p:nvPr/>
        </p:nvSpPr>
        <p:spPr>
          <a:xfrm>
            <a:off x="9934575" y="6335985"/>
            <a:ext cx="287083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IN_USE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106400" y="3778523"/>
            <a:ext cx="514350" cy="3281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450" dirty="0">
                <a:solidFill>
                  <a:srgbClr val="1E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450" dirty="0"/>
          </a:p>
        </p:txBody>
      </p:sp>
      <p:sp>
        <p:nvSpPr>
          <p:cNvPr id="23" name="Shape 21"/>
          <p:cNvSpPr/>
          <p:nvPr/>
        </p:nvSpPr>
        <p:spPr>
          <a:xfrm>
            <a:off x="13754100" y="3778523"/>
            <a:ext cx="3295650" cy="3243263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24" name="Text 22"/>
          <p:cNvSpPr/>
          <p:nvPr/>
        </p:nvSpPr>
        <p:spPr>
          <a:xfrm>
            <a:off x="14097000" y="4159523"/>
            <a:ext cx="287083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管理員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097000" y="4611960"/>
            <a:ext cx="2870835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還車</a:t>
            </a:r>
            <a:endParaRPr lang="en-US" sz="3150" dirty="0"/>
          </a:p>
        </p:txBody>
      </p:sp>
      <p:sp>
        <p:nvSpPr>
          <p:cNvPr id="26" name="Text 24"/>
          <p:cNvSpPr/>
          <p:nvPr/>
        </p:nvSpPr>
        <p:spPr>
          <a:xfrm>
            <a:off x="14097000" y="5307285"/>
            <a:ext cx="268814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CD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登記里程 完成工作流程</a:t>
            </a:r>
            <a:endParaRPr lang="en-US" sz="2025" dirty="0"/>
          </a:p>
        </p:txBody>
      </p:sp>
      <p:sp>
        <p:nvSpPr>
          <p:cNvPr id="27" name="Text 25"/>
          <p:cNvSpPr/>
          <p:nvPr/>
        </p:nvSpPr>
        <p:spPr>
          <a:xfrm>
            <a:off x="14097000" y="6326460"/>
            <a:ext cx="287083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RETURNED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238250" y="7536135"/>
            <a:ext cx="2770584" cy="671513"/>
          </a:xfrm>
          <a:prstGeom prst="roundRect">
            <a:avLst>
              <a:gd name="adj" fmla="val 50000"/>
            </a:avLst>
          </a:prstGeom>
          <a:ln w="9525">
            <a:solidFill>
              <a:srgbClr val="D6D3C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95425" y="7679010"/>
            <a:ext cx="2339352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使用者認證 · JWT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4180284" y="7536135"/>
            <a:ext cx="1581150" cy="671513"/>
          </a:xfrm>
          <a:prstGeom prst="roundRect">
            <a:avLst>
              <a:gd name="adj" fmla="val 50000"/>
            </a:avLst>
          </a:prstGeom>
          <a:ln w="9525">
            <a:solidFill>
              <a:srgbClr val="D6D3C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37459" y="7679010"/>
            <a:ext cx="11430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車輛管理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5932884" y="7536135"/>
            <a:ext cx="1581150" cy="671513"/>
          </a:xfrm>
          <a:prstGeom prst="roundRect">
            <a:avLst>
              <a:gd name="adj" fmla="val 50000"/>
            </a:avLst>
          </a:prstGeom>
          <a:ln w="9525">
            <a:solidFill>
              <a:srgbClr val="D6D3C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90059" y="7679010"/>
            <a:ext cx="11430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借車申請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7685484" y="7536135"/>
            <a:ext cx="1847850" cy="671513"/>
          </a:xfrm>
          <a:prstGeom prst="roundRect">
            <a:avLst>
              <a:gd name="adj" fmla="val 50000"/>
            </a:avLst>
          </a:prstGeom>
          <a:ln w="9525">
            <a:solidFill>
              <a:srgbClr val="D6D3C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42659" y="7679010"/>
            <a:ext cx="14097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審核工作流</a:t>
            </a:r>
            <a:endParaRPr lang="en-US" sz="2100" dirty="0"/>
          </a:p>
        </p:txBody>
      </p:sp>
      <p:sp>
        <p:nvSpPr>
          <p:cNvPr id="36" name="Shape 34"/>
          <p:cNvSpPr/>
          <p:nvPr/>
        </p:nvSpPr>
        <p:spPr>
          <a:xfrm>
            <a:off x="9704784" y="7536135"/>
            <a:ext cx="1581150" cy="671513"/>
          </a:xfrm>
          <a:prstGeom prst="roundRect">
            <a:avLst>
              <a:gd name="adj" fmla="val 50000"/>
            </a:avLst>
          </a:prstGeom>
          <a:ln w="9525">
            <a:solidFill>
              <a:srgbClr val="D6D3C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961959" y="7679010"/>
            <a:ext cx="11430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保養管理</a:t>
            </a:r>
            <a:endParaRPr lang="en-US" sz="2100" dirty="0"/>
          </a:p>
        </p:txBody>
      </p:sp>
      <p:sp>
        <p:nvSpPr>
          <p:cNvPr id="38" name="Shape 36"/>
          <p:cNvSpPr/>
          <p:nvPr/>
        </p:nvSpPr>
        <p:spPr>
          <a:xfrm>
            <a:off x="11457384" y="7536135"/>
            <a:ext cx="1581150" cy="671513"/>
          </a:xfrm>
          <a:prstGeom prst="roundRect">
            <a:avLst>
              <a:gd name="adj" fmla="val 50000"/>
            </a:avLst>
          </a:prstGeom>
          <a:ln w="9525">
            <a:solidFill>
              <a:srgbClr val="D6D3C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714559" y="7679010"/>
            <a:ext cx="11430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違規管理</a:t>
            </a:r>
            <a:endParaRPr lang="en-US" sz="2100" dirty="0"/>
          </a:p>
        </p:txBody>
      </p:sp>
      <p:sp>
        <p:nvSpPr>
          <p:cNvPr id="40" name="Shape 38"/>
          <p:cNvSpPr/>
          <p:nvPr/>
        </p:nvSpPr>
        <p:spPr>
          <a:xfrm>
            <a:off x="13209984" y="7536135"/>
            <a:ext cx="1847850" cy="671513"/>
          </a:xfrm>
          <a:prstGeom prst="roundRect">
            <a:avLst>
              <a:gd name="adj" fmla="val 50000"/>
            </a:avLst>
          </a:prstGeom>
          <a:ln w="9525">
            <a:solidFill>
              <a:srgbClr val="D6D3C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3467159" y="7679010"/>
            <a:ext cx="14097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通知收件夾</a:t>
            </a:r>
            <a:endParaRPr lang="en-US" sz="2100" dirty="0"/>
          </a:p>
        </p:txBody>
      </p:sp>
      <p:sp>
        <p:nvSpPr>
          <p:cNvPr id="42" name="Shape 40"/>
          <p:cNvSpPr/>
          <p:nvPr/>
        </p:nvSpPr>
        <p:spPr>
          <a:xfrm>
            <a:off x="15229284" y="7536135"/>
            <a:ext cx="1581150" cy="671513"/>
          </a:xfrm>
          <a:prstGeom prst="roundRect">
            <a:avLst>
              <a:gd name="adj" fmla="val 50000"/>
            </a:avLst>
          </a:prstGeom>
          <a:ln w="9525">
            <a:solidFill>
              <a:srgbClr val="D6D3C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5486459" y="7679010"/>
            <a:ext cx="11430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稽核日誌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38200"/>
            <a:ext cx="173926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225" kern="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技術選型 · TECH STACK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238250" y="1323975"/>
            <a:ext cx="17392650" cy="81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5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技術選型</a:t>
            </a:r>
            <a:endParaRPr lang="en-US" sz="5550" dirty="0"/>
          </a:p>
        </p:txBody>
      </p:sp>
      <p:sp>
        <p:nvSpPr>
          <p:cNvPr id="4" name="Shape 2"/>
          <p:cNvSpPr/>
          <p:nvPr/>
        </p:nvSpPr>
        <p:spPr>
          <a:xfrm>
            <a:off x="1238250" y="2404095"/>
            <a:ext cx="15811500" cy="1905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2956545"/>
            <a:ext cx="5175885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後端</a:t>
            </a:r>
            <a:endParaRPr lang="en-US" sz="3150" dirty="0"/>
          </a:p>
        </p:txBody>
      </p:sp>
      <p:sp>
        <p:nvSpPr>
          <p:cNvPr id="6" name="Shape 4"/>
          <p:cNvSpPr/>
          <p:nvPr/>
        </p:nvSpPr>
        <p:spPr>
          <a:xfrm>
            <a:off x="1238250" y="3747120"/>
            <a:ext cx="470535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7" name="Text 5"/>
          <p:cNvSpPr/>
          <p:nvPr/>
        </p:nvSpPr>
        <p:spPr>
          <a:xfrm>
            <a:off x="1238250" y="4042395"/>
            <a:ext cx="1728624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5086350" y="4042395"/>
            <a:ext cx="93345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75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3.3.4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238250" y="4685333"/>
            <a:ext cx="692869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5600700" y="4685333"/>
            <a:ext cx="41910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75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238250" y="5328270"/>
            <a:ext cx="3473619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Security · JJWT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4914900" y="5328270"/>
            <a:ext cx="110490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75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0.12.6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238250" y="5971208"/>
            <a:ext cx="3784424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Data JPA · Flyway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5772150" y="5971208"/>
            <a:ext cx="24765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75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238250" y="6614145"/>
            <a:ext cx="3568489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POI · Excel 匯出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5086350" y="6614145"/>
            <a:ext cx="93345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75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5.3.0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238250" y="7257083"/>
            <a:ext cx="3963543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springdoc-openapi · Swagger UI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5086350" y="7257083"/>
            <a:ext cx="93345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75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2.6.0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238250" y="8314358"/>
            <a:ext cx="235072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/ H2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4229100" y="8314358"/>
            <a:ext cx="188595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75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 / dev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6362700" y="2956545"/>
            <a:ext cx="9525" cy="660655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22" name="Text 20"/>
          <p:cNvSpPr/>
          <p:nvPr/>
        </p:nvSpPr>
        <p:spPr>
          <a:xfrm>
            <a:off x="6791325" y="2956545"/>
            <a:ext cx="5175885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前端</a:t>
            </a:r>
            <a:endParaRPr lang="en-US" sz="3150" dirty="0"/>
          </a:p>
        </p:txBody>
      </p:sp>
      <p:sp>
        <p:nvSpPr>
          <p:cNvPr id="23" name="Shape 21"/>
          <p:cNvSpPr/>
          <p:nvPr/>
        </p:nvSpPr>
        <p:spPr>
          <a:xfrm>
            <a:off x="6791325" y="3747120"/>
            <a:ext cx="470535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24" name="Text 22"/>
          <p:cNvSpPr/>
          <p:nvPr/>
        </p:nvSpPr>
        <p:spPr>
          <a:xfrm>
            <a:off x="6791325" y="4042395"/>
            <a:ext cx="561901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0982325" y="4042395"/>
            <a:ext cx="59055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75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3.5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6791325" y="4685333"/>
            <a:ext cx="1562866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10982325" y="4685333"/>
            <a:ext cx="59055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75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5.5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6791325" y="5328270"/>
            <a:ext cx="580058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10982325" y="5328270"/>
            <a:ext cx="59055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75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5.4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6791325" y="5971208"/>
            <a:ext cx="245263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Pinia · 狀態管理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10982325" y="5971208"/>
            <a:ext cx="59055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75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2.2</a:t>
            </a:r>
            <a:endParaRPr lang="en-US" sz="2250" dirty="0"/>
          </a:p>
        </p:txBody>
      </p:sp>
      <p:sp>
        <p:nvSpPr>
          <p:cNvPr id="32" name="Text 30"/>
          <p:cNvSpPr/>
          <p:nvPr/>
        </p:nvSpPr>
        <p:spPr>
          <a:xfrm>
            <a:off x="6791325" y="6614145"/>
            <a:ext cx="281239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Router · Axios</a:t>
            </a:r>
            <a:endParaRPr lang="en-US" sz="2250" dirty="0"/>
          </a:p>
        </p:txBody>
      </p:sp>
      <p:sp>
        <p:nvSpPr>
          <p:cNvPr id="33" name="Text 31"/>
          <p:cNvSpPr/>
          <p:nvPr/>
        </p:nvSpPr>
        <p:spPr>
          <a:xfrm>
            <a:off x="9953625" y="6614145"/>
            <a:ext cx="169735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75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4.4 / 1.7</a:t>
            </a:r>
            <a:endParaRPr lang="en-US" sz="2250" dirty="0"/>
          </a:p>
        </p:txBody>
      </p:sp>
      <p:sp>
        <p:nvSpPr>
          <p:cNvPr id="34" name="Text 32"/>
          <p:cNvSpPr/>
          <p:nvPr/>
        </p:nvSpPr>
        <p:spPr>
          <a:xfrm>
            <a:off x="6791325" y="7257083"/>
            <a:ext cx="253752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Chart.js · 儀表板</a:t>
            </a:r>
            <a:endParaRPr lang="en-US" sz="2250" dirty="0"/>
          </a:p>
        </p:txBody>
      </p:sp>
      <p:sp>
        <p:nvSpPr>
          <p:cNvPr id="35" name="Text 33"/>
          <p:cNvSpPr/>
          <p:nvPr/>
        </p:nvSpPr>
        <p:spPr>
          <a:xfrm>
            <a:off x="10982325" y="7257083"/>
            <a:ext cx="59055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75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4.5</a:t>
            </a:r>
            <a:endParaRPr lang="en-US" sz="2250" dirty="0"/>
          </a:p>
        </p:txBody>
      </p:sp>
      <p:sp>
        <p:nvSpPr>
          <p:cNvPr id="36" name="Shape 34"/>
          <p:cNvSpPr/>
          <p:nvPr/>
        </p:nvSpPr>
        <p:spPr>
          <a:xfrm>
            <a:off x="11915775" y="2956545"/>
            <a:ext cx="9525" cy="660655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37" name="Text 35"/>
          <p:cNvSpPr/>
          <p:nvPr/>
        </p:nvSpPr>
        <p:spPr>
          <a:xfrm>
            <a:off x="12344400" y="2956545"/>
            <a:ext cx="5175885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建構與部署</a:t>
            </a:r>
            <a:endParaRPr lang="en-US" sz="3150" dirty="0"/>
          </a:p>
        </p:txBody>
      </p:sp>
      <p:sp>
        <p:nvSpPr>
          <p:cNvPr id="38" name="Shape 36"/>
          <p:cNvSpPr/>
          <p:nvPr/>
        </p:nvSpPr>
        <p:spPr>
          <a:xfrm>
            <a:off x="12344400" y="3747120"/>
            <a:ext cx="470535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39" name="Text 37"/>
          <p:cNvSpPr/>
          <p:nvPr/>
        </p:nvSpPr>
        <p:spPr>
          <a:xfrm>
            <a:off x="12344400" y="4042395"/>
            <a:ext cx="517588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Maven Wrapper</a:t>
            </a:r>
            <a:endParaRPr lang="en-US" sz="2250" dirty="0"/>
          </a:p>
        </p:txBody>
      </p:sp>
      <p:sp>
        <p:nvSpPr>
          <p:cNvPr id="40" name="Text 38"/>
          <p:cNvSpPr/>
          <p:nvPr/>
        </p:nvSpPr>
        <p:spPr>
          <a:xfrm>
            <a:off x="12344400" y="4685333"/>
            <a:ext cx="517588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· CI/CD</a:t>
            </a:r>
            <a:endParaRPr lang="en-US" sz="2250" dirty="0"/>
          </a:p>
        </p:txBody>
      </p:sp>
      <p:sp>
        <p:nvSpPr>
          <p:cNvPr id="41" name="Text 39"/>
          <p:cNvSpPr/>
          <p:nvPr/>
        </p:nvSpPr>
        <p:spPr>
          <a:xfrm>
            <a:off x="12344400" y="5328270"/>
            <a:ext cx="517588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PM2 行程管理</a:t>
            </a:r>
            <a:endParaRPr lang="en-US" sz="2250" dirty="0"/>
          </a:p>
        </p:txBody>
      </p:sp>
      <p:sp>
        <p:nvSpPr>
          <p:cNvPr id="42" name="Text 40"/>
          <p:cNvSpPr/>
          <p:nvPr/>
        </p:nvSpPr>
        <p:spPr>
          <a:xfrm>
            <a:off x="12344400" y="5971208"/>
            <a:ext cx="517588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Tunnel</a:t>
            </a:r>
            <a:endParaRPr lang="en-US" sz="2250" dirty="0"/>
          </a:p>
        </p:txBody>
      </p:sp>
      <p:sp>
        <p:nvSpPr>
          <p:cNvPr id="43" name="Text 41"/>
          <p:cNvSpPr/>
          <p:nvPr/>
        </p:nvSpPr>
        <p:spPr>
          <a:xfrm>
            <a:off x="12344400" y="6614145"/>
            <a:ext cx="517588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觸發自動部署至 VPS</a:t>
            </a:r>
            <a:endParaRPr lang="en-US" sz="20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38200"/>
            <a:ext cx="173926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225" kern="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— 系統架構 · ARCHITECTURE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238250" y="1323975"/>
            <a:ext cx="17392650" cy="81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5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分層架構</a:t>
            </a:r>
            <a:endParaRPr lang="en-US" sz="5550" dirty="0"/>
          </a:p>
        </p:txBody>
      </p:sp>
      <p:sp>
        <p:nvSpPr>
          <p:cNvPr id="4" name="Shape 2"/>
          <p:cNvSpPr/>
          <p:nvPr/>
        </p:nvSpPr>
        <p:spPr>
          <a:xfrm>
            <a:off x="1238250" y="2404095"/>
            <a:ext cx="15811500" cy="1905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5" name="Shape 3"/>
          <p:cNvSpPr/>
          <p:nvPr/>
        </p:nvSpPr>
        <p:spPr>
          <a:xfrm>
            <a:off x="1238250" y="3652317"/>
            <a:ext cx="11906250" cy="928688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90675" y="4009504"/>
            <a:ext cx="20955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762375" y="3909492"/>
            <a:ext cx="5536131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3 SPA · REST Controllers · DTOs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238250" y="4714354"/>
            <a:ext cx="11906250" cy="928688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90675" y="5071542"/>
            <a:ext cx="20955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762375" y="4971529"/>
            <a:ext cx="7635724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Borrowing · Vehicle · Maintenance · User Service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238250" y="5776392"/>
            <a:ext cx="11906250" cy="928688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90675" y="6133579"/>
            <a:ext cx="20955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62375" y="6033567"/>
            <a:ext cx="7276378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BorrowingRequest · Role · Observer · Strategy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238250" y="6838429"/>
            <a:ext cx="11906250" cy="909638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15" name="Text 13"/>
          <p:cNvSpPr/>
          <p:nvPr/>
        </p:nvSpPr>
        <p:spPr>
          <a:xfrm>
            <a:off x="1581150" y="7186092"/>
            <a:ext cx="20955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Repository ⇅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752850" y="7086079"/>
            <a:ext cx="8470977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IVehicleRepository · IBorrowingRepository … </a:t>
            </a:r>
            <a:pPr algn="l" indent="0" marL="0">
              <a:buNone/>
            </a:pPr>
            <a:r>
              <a:rPr lang="en-US" sz="1800" dirty="0">
                <a:solidFill>
                  <a:srgbClr val="CDD4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（DIP 邊界）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238250" y="7881417"/>
            <a:ext cx="11906250" cy="928688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90675" y="8238604"/>
            <a:ext cx="20955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Infrastructure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762375" y="8138592"/>
            <a:ext cx="7205573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JPA Adapters · JWT Security · Flyway Migration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3620750" y="4573860"/>
            <a:ext cx="37719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依賴反轉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3620750" y="5316810"/>
            <a:ext cx="3531870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225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上層只依賴 Repository </a:t>
            </a:r>
            <a:pPr algn="l" indent="0" marL="0">
              <a:lnSpc>
                <a:spcPct val="160000"/>
              </a:lnSpc>
              <a:buNone/>
            </a:pPr>
            <a:r>
              <a:rPr lang="en-US" sz="2250" b="1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介面 </a:t>
            </a:r>
            <a:pPr algn="l" indent="0" marL="0">
              <a:lnSpc>
                <a:spcPct val="160000"/>
              </a:lnSpc>
              <a:buNone/>
            </a:pPr>
            <a:r>
              <a:rPr lang="en-US" sz="225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；Infrastructure 在編譯期被反轉，成為實作細節。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3620750" y="6974160"/>
            <a:ext cx="353187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225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與 Domain 因此能脫離資料庫獨立測試。</a:t>
            </a:r>
            <a:endParaRPr lang="en-US" sz="2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38200"/>
            <a:ext cx="173926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225" kern="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— 設計模式 · GOF PATTERNS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238250" y="1323975"/>
            <a:ext cx="4652010" cy="81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5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設計模式總覽</a:t>
            </a:r>
            <a:endParaRPr lang="en-US" sz="5550" dirty="0"/>
          </a:p>
        </p:txBody>
      </p:sp>
      <p:sp>
        <p:nvSpPr>
          <p:cNvPr id="4" name="Text 2"/>
          <p:cNvSpPr/>
          <p:nvPr/>
        </p:nvSpPr>
        <p:spPr>
          <a:xfrm>
            <a:off x="5734050" y="1643063"/>
            <a:ext cx="523040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patterns · 3 categories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238250" y="2385045"/>
            <a:ext cx="15811500" cy="1905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6" name="Shape 4"/>
          <p:cNvSpPr/>
          <p:nvPr/>
        </p:nvSpPr>
        <p:spPr>
          <a:xfrm>
            <a:off x="1238250" y="2942258"/>
            <a:ext cx="8733011" cy="19050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7" name="Text 5"/>
          <p:cNvSpPr/>
          <p:nvPr/>
        </p:nvSpPr>
        <p:spPr>
          <a:xfrm>
            <a:off x="1238250" y="2499345"/>
            <a:ext cx="899500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75" kern="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BEHAVIORAL · 6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1238250" y="3661395"/>
            <a:ext cx="8733011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9" name="Text 7"/>
          <p:cNvSpPr/>
          <p:nvPr/>
        </p:nvSpPr>
        <p:spPr>
          <a:xfrm>
            <a:off x="1238250" y="3151808"/>
            <a:ext cx="356235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</a:t>
            </a:r>
            <a:endParaRPr lang="en-US" sz="2325" dirty="0"/>
          </a:p>
        </p:txBody>
      </p:sp>
      <p:sp>
        <p:nvSpPr>
          <p:cNvPr id="10" name="Text 8"/>
          <p:cNvSpPr/>
          <p:nvPr/>
        </p:nvSpPr>
        <p:spPr>
          <a:xfrm>
            <a:off x="4705350" y="3123233"/>
            <a:ext cx="2829662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借車申請 5 種狀態流轉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1238250" y="4371008"/>
            <a:ext cx="8733011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12" name="Text 10"/>
          <p:cNvSpPr/>
          <p:nvPr/>
        </p:nvSpPr>
        <p:spPr>
          <a:xfrm>
            <a:off x="1238250" y="3861420"/>
            <a:ext cx="356235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Observer</a:t>
            </a:r>
            <a:endParaRPr lang="en-US" sz="2325" dirty="0"/>
          </a:p>
        </p:txBody>
      </p:sp>
      <p:sp>
        <p:nvSpPr>
          <p:cNvPr id="13" name="Text 11"/>
          <p:cNvSpPr/>
          <p:nvPr/>
        </p:nvSpPr>
        <p:spPr>
          <a:xfrm>
            <a:off x="4705350" y="3832845"/>
            <a:ext cx="2828925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狀態變更時的事件通知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1238250" y="5080620"/>
            <a:ext cx="8733011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15" name="Text 13"/>
          <p:cNvSpPr/>
          <p:nvPr/>
        </p:nvSpPr>
        <p:spPr>
          <a:xfrm>
            <a:off x="1238250" y="4571033"/>
            <a:ext cx="356235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</a:t>
            </a:r>
            <a:endParaRPr lang="en-US" sz="2325" dirty="0"/>
          </a:p>
        </p:txBody>
      </p:sp>
      <p:sp>
        <p:nvSpPr>
          <p:cNvPr id="16" name="Text 14"/>
          <p:cNvSpPr/>
          <p:nvPr/>
        </p:nvSpPr>
        <p:spPr>
          <a:xfrm>
            <a:off x="4705350" y="4542458"/>
            <a:ext cx="3111818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可替換的時段衝突演算法</a:t>
            </a:r>
            <a:endParaRPr lang="en-US" sz="2025" dirty="0"/>
          </a:p>
        </p:txBody>
      </p:sp>
      <p:sp>
        <p:nvSpPr>
          <p:cNvPr id="17" name="Shape 15"/>
          <p:cNvSpPr/>
          <p:nvPr/>
        </p:nvSpPr>
        <p:spPr>
          <a:xfrm>
            <a:off x="1238250" y="5790233"/>
            <a:ext cx="8733011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18" name="Text 16"/>
          <p:cNvSpPr/>
          <p:nvPr/>
        </p:nvSpPr>
        <p:spPr>
          <a:xfrm>
            <a:off x="1238250" y="5280645"/>
            <a:ext cx="356235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Template Method</a:t>
            </a:r>
            <a:endParaRPr lang="en-US" sz="2325" dirty="0"/>
          </a:p>
        </p:txBody>
      </p:sp>
      <p:sp>
        <p:nvSpPr>
          <p:cNvPr id="19" name="Text 17"/>
          <p:cNvSpPr/>
          <p:nvPr/>
        </p:nvSpPr>
        <p:spPr>
          <a:xfrm>
            <a:off x="4705350" y="5252070"/>
            <a:ext cx="2438556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層權限守衛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1238250" y="6499845"/>
            <a:ext cx="8733011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21" name="Text 19"/>
          <p:cNvSpPr/>
          <p:nvPr/>
        </p:nvSpPr>
        <p:spPr>
          <a:xfrm>
            <a:off x="1238250" y="5990258"/>
            <a:ext cx="356235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Chain of Responsibility</a:t>
            </a:r>
            <a:endParaRPr lang="en-US" sz="2325" dirty="0"/>
          </a:p>
        </p:txBody>
      </p:sp>
      <p:sp>
        <p:nvSpPr>
          <p:cNvPr id="22" name="Text 20"/>
          <p:cNvSpPr/>
          <p:nvPr/>
        </p:nvSpPr>
        <p:spPr>
          <a:xfrm>
            <a:off x="4705350" y="5961683"/>
            <a:ext cx="2828925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申請送審的多步驗證鏈</a:t>
            </a:r>
            <a:endParaRPr lang="en-US" sz="2025" dirty="0"/>
          </a:p>
        </p:txBody>
      </p:sp>
      <p:sp>
        <p:nvSpPr>
          <p:cNvPr id="23" name="Text 21"/>
          <p:cNvSpPr/>
          <p:nvPr/>
        </p:nvSpPr>
        <p:spPr>
          <a:xfrm>
            <a:off x="1238250" y="6699870"/>
            <a:ext cx="356235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Command</a:t>
            </a:r>
            <a:endParaRPr lang="en-US" sz="2325" dirty="0"/>
          </a:p>
        </p:txBody>
      </p:sp>
      <p:sp>
        <p:nvSpPr>
          <p:cNvPr id="24" name="Text 22"/>
          <p:cNvSpPr/>
          <p:nvPr/>
        </p:nvSpPr>
        <p:spPr>
          <a:xfrm>
            <a:off x="4705350" y="6671295"/>
            <a:ext cx="2546033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狀態操作封裝與稽核</a:t>
            </a:r>
            <a:endParaRPr lang="en-US" sz="2025" dirty="0"/>
          </a:p>
        </p:txBody>
      </p:sp>
      <p:sp>
        <p:nvSpPr>
          <p:cNvPr id="25" name="Shape 23"/>
          <p:cNvSpPr/>
          <p:nvPr/>
        </p:nvSpPr>
        <p:spPr>
          <a:xfrm>
            <a:off x="10580861" y="2942258"/>
            <a:ext cx="6468889" cy="19050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26" name="Text 24"/>
          <p:cNvSpPr/>
          <p:nvPr/>
        </p:nvSpPr>
        <p:spPr>
          <a:xfrm>
            <a:off x="10580861" y="2499345"/>
            <a:ext cx="666295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75" kern="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CREATIONAL · 2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10580861" y="3661395"/>
            <a:ext cx="6468889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28" name="Text 26"/>
          <p:cNvSpPr/>
          <p:nvPr/>
        </p:nvSpPr>
        <p:spPr>
          <a:xfrm>
            <a:off x="10580861" y="3151808"/>
            <a:ext cx="293370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Factory Method</a:t>
            </a:r>
            <a:endParaRPr lang="en-US" sz="2325" dirty="0"/>
          </a:p>
        </p:txBody>
      </p:sp>
      <p:sp>
        <p:nvSpPr>
          <p:cNvPr id="29" name="Text 27"/>
          <p:cNvSpPr/>
          <p:nvPr/>
        </p:nvSpPr>
        <p:spPr>
          <a:xfrm>
            <a:off x="13476461" y="3123233"/>
            <a:ext cx="2973973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依角色名建立 Role 物件</a:t>
            </a:r>
            <a:endParaRPr lang="en-US" sz="2025" dirty="0"/>
          </a:p>
        </p:txBody>
      </p:sp>
      <p:sp>
        <p:nvSpPr>
          <p:cNvPr id="30" name="Text 28"/>
          <p:cNvSpPr/>
          <p:nvPr/>
        </p:nvSpPr>
        <p:spPr>
          <a:xfrm>
            <a:off x="10580861" y="3861420"/>
            <a:ext cx="293370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Builder</a:t>
            </a:r>
            <a:endParaRPr lang="en-US" sz="2325" dirty="0"/>
          </a:p>
        </p:txBody>
      </p:sp>
      <p:sp>
        <p:nvSpPr>
          <p:cNvPr id="31" name="Text 29"/>
          <p:cNvSpPr/>
          <p:nvPr/>
        </p:nvSpPr>
        <p:spPr>
          <a:xfrm>
            <a:off x="13476461" y="3832845"/>
            <a:ext cx="3394710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從資料庫無副作用還原申請</a:t>
            </a:r>
            <a:endParaRPr lang="en-US" sz="2025" dirty="0"/>
          </a:p>
        </p:txBody>
      </p:sp>
      <p:sp>
        <p:nvSpPr>
          <p:cNvPr id="32" name="Shape 30"/>
          <p:cNvSpPr/>
          <p:nvPr/>
        </p:nvSpPr>
        <p:spPr>
          <a:xfrm>
            <a:off x="10580861" y="5252070"/>
            <a:ext cx="6468889" cy="19050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33" name="Text 31"/>
          <p:cNvSpPr/>
          <p:nvPr/>
        </p:nvSpPr>
        <p:spPr>
          <a:xfrm>
            <a:off x="10580861" y="4809158"/>
            <a:ext cx="666295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75" kern="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STRUCTURAL · 2</a:t>
            </a:r>
            <a:endParaRPr lang="en-US" sz="1875" dirty="0"/>
          </a:p>
        </p:txBody>
      </p:sp>
      <p:sp>
        <p:nvSpPr>
          <p:cNvPr id="34" name="Shape 32"/>
          <p:cNvSpPr/>
          <p:nvPr/>
        </p:nvSpPr>
        <p:spPr>
          <a:xfrm>
            <a:off x="10580861" y="5971208"/>
            <a:ext cx="6468889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35" name="Text 33"/>
          <p:cNvSpPr/>
          <p:nvPr/>
        </p:nvSpPr>
        <p:spPr>
          <a:xfrm>
            <a:off x="10580861" y="5461620"/>
            <a:ext cx="293370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Adapter</a:t>
            </a:r>
            <a:endParaRPr lang="en-US" sz="2325" dirty="0"/>
          </a:p>
        </p:txBody>
      </p:sp>
      <p:sp>
        <p:nvSpPr>
          <p:cNvPr id="36" name="Text 34"/>
          <p:cNvSpPr/>
          <p:nvPr/>
        </p:nvSpPr>
        <p:spPr>
          <a:xfrm>
            <a:off x="13476461" y="5433045"/>
            <a:ext cx="2781531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介面橋接 JPA</a:t>
            </a:r>
            <a:endParaRPr lang="en-US" sz="2025" dirty="0"/>
          </a:p>
        </p:txBody>
      </p:sp>
      <p:sp>
        <p:nvSpPr>
          <p:cNvPr id="37" name="Text 35"/>
          <p:cNvSpPr/>
          <p:nvPr/>
        </p:nvSpPr>
        <p:spPr>
          <a:xfrm>
            <a:off x="10580861" y="6171233"/>
            <a:ext cx="293370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Decorator</a:t>
            </a:r>
            <a:endParaRPr lang="en-US" sz="2325" dirty="0"/>
          </a:p>
        </p:txBody>
      </p:sp>
      <p:sp>
        <p:nvSpPr>
          <p:cNvPr id="38" name="Text 36"/>
          <p:cNvSpPr/>
          <p:nvPr/>
        </p:nvSpPr>
        <p:spPr>
          <a:xfrm>
            <a:off x="13476461" y="6142658"/>
            <a:ext cx="2263140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疊加時段緩衝規則</a:t>
            </a:r>
            <a:endParaRPr lang="en-US" sz="20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38200"/>
            <a:ext cx="494538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225" kern="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— 領域模型 · DOMAIN MODEL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238250" y="1304925"/>
            <a:ext cx="4945380" cy="729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9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領域模型全貌</a:t>
            </a:r>
            <a:endParaRPr lang="en-US" sz="4950" dirty="0"/>
          </a:p>
        </p:txBody>
      </p:sp>
      <p:sp>
        <p:nvSpPr>
          <p:cNvPr id="4" name="Text 2"/>
          <p:cNvSpPr/>
          <p:nvPr/>
        </p:nvSpPr>
        <p:spPr>
          <a:xfrm>
            <a:off x="11848750" y="1167705"/>
            <a:ext cx="520100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2175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· Factory · Observer · Strategy 在同一張類別圖中交會</a:t>
            </a:r>
            <a:endParaRPr lang="en-US" sz="2175" dirty="0"/>
          </a:p>
        </p:txBody>
      </p:sp>
      <p:sp>
        <p:nvSpPr>
          <p:cNvPr id="5" name="Shape 3"/>
          <p:cNvSpPr/>
          <p:nvPr/>
        </p:nvSpPr>
        <p:spPr>
          <a:xfrm>
            <a:off x="1238250" y="2244030"/>
            <a:ext cx="15811500" cy="1905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6" name="Shape 4"/>
          <p:cNvSpPr/>
          <p:nvPr/>
        </p:nvSpPr>
        <p:spPr>
          <a:xfrm>
            <a:off x="1238250" y="2586930"/>
            <a:ext cx="15811500" cy="70333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33525" y="3501330"/>
            <a:ext cx="15220950" cy="52044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62000"/>
            <a:ext cx="176022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BEHAVIORAL · 設計模式 01 /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214438"/>
            <a:ext cx="17602200" cy="729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9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Pattern — 借車申請生命週期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1143000" y="2153543"/>
            <a:ext cx="16002000" cy="1905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2496443"/>
            <a:ext cx="9067800" cy="7123807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31603" y="4088829"/>
            <a:ext cx="8090595" cy="865287"/>
          </a:xfrm>
          <a:prstGeom prst="roundRect">
            <a:avLst>
              <a:gd name="adj" fmla="val 4403"/>
            </a:avLst>
          </a:prstGeom>
          <a:solidFill>
            <a:srgbClr val="FFFFFF"/>
          </a:solidFill>
          <a:ln w="14288">
            <a:solidFill>
              <a:srgbClr val="B3ADA3"/>
            </a:solidFill>
            <a:prstDash val="solid"/>
          </a:ln>
          <a:effectLst>
            <a:outerShdw sx="100000" sy="100000" kx="0" ky="0" algn="bl" rotWithShape="0" blurRad="19050" dist="9525" dir="54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890" y="4103117"/>
            <a:ext cx="8062020" cy="414338"/>
          </a:xfrm>
          <a:prstGeom prst="rect">
            <a:avLst/>
          </a:prstGeom>
          <a:solidFill>
            <a:srgbClr val="F1EFE9"/>
          </a:solidFill>
          <a:ln/>
        </p:spPr>
      </p:sp>
      <p:sp>
        <p:nvSpPr>
          <p:cNvPr id="8" name="Shape 6"/>
          <p:cNvSpPr/>
          <p:nvPr/>
        </p:nvSpPr>
        <p:spPr>
          <a:xfrm>
            <a:off x="1645890" y="4503167"/>
            <a:ext cx="8062020" cy="14288"/>
          </a:xfrm>
          <a:prstGeom prst="rect">
            <a:avLst/>
          </a:prstGeom>
          <a:solidFill>
            <a:srgbClr val="B3ADA3"/>
          </a:solidFill>
          <a:ln/>
        </p:spPr>
      </p:sp>
      <p:sp>
        <p:nvSpPr>
          <p:cNvPr id="9" name="Text 7"/>
          <p:cNvSpPr/>
          <p:nvPr/>
        </p:nvSpPr>
        <p:spPr>
          <a:xfrm>
            <a:off x="1734510" y="4179317"/>
            <a:ext cx="78847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1C1917"/>
                </a:solidFill>
                <a:highlight>
                  <a:srgbClr val="F1EFE9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BorrowingRequest </a:t>
            </a:r>
            <a:pPr algn="ctr" indent="0" marL="0">
              <a:buNone/>
            </a:pPr>
            <a:r>
              <a:rPr lang="en-US" sz="1125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«Context»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1855440" y="4603179"/>
            <a:ext cx="7884780" cy="2890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75" dirty="0">
                <a:solidFill>
                  <a:srgbClr val="575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state: BorrowingState · + approve() / reject() · + startUse() / complete()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5591175" y="4954116"/>
            <a:ext cx="2476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7375" y="5125566"/>
            <a:ext cx="19050" cy="142875"/>
          </a:xfrm>
          <a:prstGeom prst="rect">
            <a:avLst/>
          </a:prstGeom>
          <a:solidFill>
            <a:srgbClr val="B3ADA3"/>
          </a:solidFill>
          <a:ln/>
        </p:spPr>
      </p:sp>
      <p:sp>
        <p:nvSpPr>
          <p:cNvPr id="13" name="Text 11"/>
          <p:cNvSpPr/>
          <p:nvPr/>
        </p:nvSpPr>
        <p:spPr>
          <a:xfrm>
            <a:off x="5376714" y="5268441"/>
            <a:ext cx="676573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25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▽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5667375" y="5425604"/>
            <a:ext cx="19050" cy="66675"/>
          </a:xfrm>
          <a:prstGeom prst="rect">
            <a:avLst/>
          </a:prstGeom>
          <a:solidFill>
            <a:srgbClr val="B3ADA3"/>
          </a:solidFill>
          <a:ln/>
        </p:spPr>
      </p:sp>
      <p:sp>
        <p:nvSpPr>
          <p:cNvPr id="15" name="Shape 13"/>
          <p:cNvSpPr/>
          <p:nvPr/>
        </p:nvSpPr>
        <p:spPr>
          <a:xfrm>
            <a:off x="2338388" y="5492279"/>
            <a:ext cx="6677025" cy="1021035"/>
          </a:xfrm>
          <a:prstGeom prst="roundRect">
            <a:avLst>
              <a:gd name="adj" fmla="val 3732"/>
            </a:avLst>
          </a:prstGeom>
          <a:solidFill>
            <a:srgbClr val="FFFFFF"/>
          </a:solidFill>
          <a:ln w="14288">
            <a:solidFill>
              <a:srgbClr val="A99F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52675" y="5506566"/>
            <a:ext cx="6648450" cy="578123"/>
          </a:xfrm>
          <a:prstGeom prst="rect">
            <a:avLst/>
          </a:prstGeom>
          <a:solidFill>
            <a:srgbClr val="ECE7F8"/>
          </a:solidFill>
          <a:ln/>
        </p:spPr>
      </p:sp>
      <p:sp>
        <p:nvSpPr>
          <p:cNvPr id="17" name="Shape 15"/>
          <p:cNvSpPr/>
          <p:nvPr/>
        </p:nvSpPr>
        <p:spPr>
          <a:xfrm>
            <a:off x="2352675" y="6070402"/>
            <a:ext cx="6648450" cy="14288"/>
          </a:xfrm>
          <a:prstGeom prst="rect">
            <a:avLst/>
          </a:prstGeom>
          <a:solidFill>
            <a:srgbClr val="A99FD0"/>
          </a:solidFill>
          <a:ln/>
        </p:spPr>
      </p:sp>
      <p:sp>
        <p:nvSpPr>
          <p:cNvPr id="18" name="Text 16"/>
          <p:cNvSpPr/>
          <p:nvPr/>
        </p:nvSpPr>
        <p:spPr>
          <a:xfrm>
            <a:off x="2292668" y="5563716"/>
            <a:ext cx="6768465" cy="220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A5A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«interface»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92668" y="5746552"/>
            <a:ext cx="676846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2E2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BorrowingState</a:t>
            </a:r>
            <a:endParaRPr lang="en-US" sz="1725" dirty="0"/>
          </a:p>
        </p:txBody>
      </p:sp>
      <p:sp>
        <p:nvSpPr>
          <p:cNvPr id="20" name="Text 18"/>
          <p:cNvSpPr/>
          <p:nvPr/>
        </p:nvSpPr>
        <p:spPr>
          <a:xfrm>
            <a:off x="2600325" y="6170414"/>
            <a:ext cx="6352603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575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approve(req) / reject(req) · + startUse(req) / complete(req)</a:t>
            </a:r>
            <a:endParaRPr lang="en-US" sz="1275" dirty="0"/>
          </a:p>
        </p:txBody>
      </p:sp>
      <p:sp>
        <p:nvSpPr>
          <p:cNvPr id="21" name="Text 19"/>
          <p:cNvSpPr/>
          <p:nvPr/>
        </p:nvSpPr>
        <p:spPr>
          <a:xfrm>
            <a:off x="5581650" y="6551414"/>
            <a:ext cx="2667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" dirty="0">
                <a:solidFill>
                  <a:srgbClr val="6A5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△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667375" y="6722864"/>
            <a:ext cx="19050" cy="152400"/>
          </a:xfrm>
          <a:prstGeom prst="rect">
            <a:avLst/>
          </a:prstGeom>
          <a:solidFill>
            <a:srgbClr val="A99FD0"/>
          </a:solidFill>
          <a:ln/>
        </p:spPr>
      </p:sp>
      <p:sp>
        <p:nvSpPr>
          <p:cNvPr id="23" name="Shape 21"/>
          <p:cNvSpPr/>
          <p:nvPr/>
        </p:nvSpPr>
        <p:spPr>
          <a:xfrm>
            <a:off x="2057400" y="6875264"/>
            <a:ext cx="7239000" cy="19050"/>
          </a:xfrm>
          <a:prstGeom prst="rect">
            <a:avLst/>
          </a:prstGeom>
          <a:solidFill>
            <a:srgbClr val="A99FD0"/>
          </a:solidFill>
          <a:ln/>
        </p:spPr>
      </p:sp>
      <p:sp>
        <p:nvSpPr>
          <p:cNvPr id="24" name="Shape 22"/>
          <p:cNvSpPr/>
          <p:nvPr/>
        </p:nvSpPr>
        <p:spPr>
          <a:xfrm>
            <a:off x="2445916" y="7065764"/>
            <a:ext cx="1529730" cy="423863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14288">
            <a:solidFill>
              <a:srgbClr val="B3ADA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93553" y="7165777"/>
            <a:ext cx="1310655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PendingState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089946" y="7065764"/>
            <a:ext cx="1632645" cy="423863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14288">
            <a:solidFill>
              <a:srgbClr val="B3ADA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37583" y="7165777"/>
            <a:ext cx="1413570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ApprovedState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836890" y="7065764"/>
            <a:ext cx="1323975" cy="423863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14288">
            <a:solidFill>
              <a:srgbClr val="B3ADA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84528" y="7165777"/>
            <a:ext cx="1104900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InUseState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7275165" y="7065764"/>
            <a:ext cx="1632645" cy="423863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14288">
            <a:solidFill>
              <a:srgbClr val="B3ADA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22803" y="7165777"/>
            <a:ext cx="1413570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ReturnedState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4860578" y="7603927"/>
            <a:ext cx="1632645" cy="423863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14288">
            <a:solidFill>
              <a:srgbClr val="B3ADA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08215" y="7703939"/>
            <a:ext cx="1413570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RejectedState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10744200" y="3591892"/>
            <a:ext cx="704088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A8A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為何使用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0744200" y="4044330"/>
            <a:ext cx="6592824" cy="1456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23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借車申請有 5 種狀態、每種只允許特定轉換；用 </a:t>
            </a:r>
            <a:pPr algn="l" indent="0" marL="0">
              <a:lnSpc>
                <a:spcPct val="160000"/>
              </a:lnSpc>
              <a:buNone/>
            </a:pPr>
            <a:r>
              <a:rPr lang="en-US" sz="2025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if-else </a:t>
            </a:r>
            <a:pPr algn="l" indent="0" marL="0">
              <a:lnSpc>
                <a:spcPct val="160000"/>
              </a:lnSpc>
              <a:buNone/>
            </a:pPr>
            <a:r>
              <a:rPr lang="en-US" sz="23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判斷狀態字串會讓 Service 充滿分支邏輯。</a:t>
            </a:r>
            <a:endParaRPr lang="en-US" sz="2325" dirty="0"/>
          </a:p>
        </p:txBody>
      </p:sp>
      <p:sp>
        <p:nvSpPr>
          <p:cNvPr id="36" name="Text 34"/>
          <p:cNvSpPr/>
          <p:nvPr/>
        </p:nvSpPr>
        <p:spPr>
          <a:xfrm>
            <a:off x="10744200" y="5786289"/>
            <a:ext cx="704088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A8A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設計特色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0744200" y="6257776"/>
            <a:ext cx="21342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1033820" y="6257776"/>
            <a:ext cx="629451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轉換邏輯封裝在各 ConcreteState，Context 僅委派。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10744200" y="7191226"/>
            <a:ext cx="21342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1033820" y="7191226"/>
            <a:ext cx="629451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非法轉換拋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InvalidStateTransitionException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HTTP 422。</a:t>
            </a:r>
            <a:endParaRPr lang="en-US" sz="2100" dirty="0"/>
          </a:p>
        </p:txBody>
      </p:sp>
      <p:sp>
        <p:nvSpPr>
          <p:cNvPr id="41" name="Text 39"/>
          <p:cNvSpPr/>
          <p:nvPr/>
        </p:nvSpPr>
        <p:spPr>
          <a:xfrm>
            <a:off x="10744200" y="8124676"/>
            <a:ext cx="2134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1033820" y="8124676"/>
            <a:ext cx="522974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新增狀態只加一個類別，不改 Context。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62000"/>
            <a:ext cx="176022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BEHAVIORAL · 設計模式 02 /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214438"/>
            <a:ext cx="17602200" cy="729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9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Observer Pattern — 借車事件通知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1143000" y="2153543"/>
            <a:ext cx="16002000" cy="1905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2496443"/>
            <a:ext cx="9067800" cy="7123807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0148" y="4228133"/>
            <a:ext cx="3830985" cy="1241003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14288">
            <a:solidFill>
              <a:srgbClr val="A99F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35" y="4242420"/>
            <a:ext cx="3802410" cy="568598"/>
          </a:xfrm>
          <a:prstGeom prst="rect">
            <a:avLst/>
          </a:prstGeom>
          <a:solidFill>
            <a:srgbClr val="ECE7F8"/>
          </a:solidFill>
          <a:ln/>
        </p:spPr>
      </p:sp>
      <p:sp>
        <p:nvSpPr>
          <p:cNvPr id="8" name="Shape 6"/>
          <p:cNvSpPr/>
          <p:nvPr/>
        </p:nvSpPr>
        <p:spPr>
          <a:xfrm>
            <a:off x="1554435" y="4796730"/>
            <a:ext cx="3802410" cy="14288"/>
          </a:xfrm>
          <a:prstGeom prst="rect">
            <a:avLst/>
          </a:prstGeom>
          <a:solidFill>
            <a:srgbClr val="A99FD0"/>
          </a:solidFill>
          <a:ln/>
        </p:spPr>
      </p:sp>
      <p:sp>
        <p:nvSpPr>
          <p:cNvPr id="9" name="Text 7"/>
          <p:cNvSpPr/>
          <p:nvPr/>
        </p:nvSpPr>
        <p:spPr>
          <a:xfrm>
            <a:off x="1594820" y="4299570"/>
            <a:ext cx="3721641" cy="220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A5A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«abstract»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94820" y="4482405"/>
            <a:ext cx="372164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E2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BorrowingEventPublisher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763985" y="4896743"/>
            <a:ext cx="3497382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notifyApproved() / notifyRejected() # notifyStarted() / notifyCompleted()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60390" y="5507236"/>
            <a:ext cx="2667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" dirty="0">
                <a:solidFill>
                  <a:srgbClr val="6A5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△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446115" y="5678686"/>
            <a:ext cx="19050" cy="152400"/>
          </a:xfrm>
          <a:prstGeom prst="rect">
            <a:avLst/>
          </a:prstGeom>
          <a:solidFill>
            <a:srgbClr val="A99FD0"/>
          </a:solidFill>
          <a:ln/>
        </p:spPr>
      </p:sp>
      <p:sp>
        <p:nvSpPr>
          <p:cNvPr id="14" name="Shape 12"/>
          <p:cNvSpPr/>
          <p:nvPr/>
        </p:nvSpPr>
        <p:spPr>
          <a:xfrm>
            <a:off x="1951434" y="5831086"/>
            <a:ext cx="3008337" cy="833438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4288">
            <a:solidFill>
              <a:srgbClr val="B3AD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65722" y="5845373"/>
            <a:ext cx="2979762" cy="404813"/>
          </a:xfrm>
          <a:prstGeom prst="rect">
            <a:avLst/>
          </a:prstGeom>
          <a:solidFill>
            <a:srgbClr val="F1EFE9"/>
          </a:solidFill>
          <a:ln/>
        </p:spPr>
      </p:sp>
      <p:sp>
        <p:nvSpPr>
          <p:cNvPr id="16" name="Shape 14"/>
          <p:cNvSpPr/>
          <p:nvPr/>
        </p:nvSpPr>
        <p:spPr>
          <a:xfrm>
            <a:off x="1965722" y="6235898"/>
            <a:ext cx="2979762" cy="14288"/>
          </a:xfrm>
          <a:prstGeom prst="rect">
            <a:avLst/>
          </a:prstGeom>
          <a:solidFill>
            <a:srgbClr val="B3ADA3"/>
          </a:solidFill>
          <a:ln/>
        </p:spPr>
      </p:sp>
      <p:sp>
        <p:nvSpPr>
          <p:cNvPr id="17" name="Text 15"/>
          <p:cNvSpPr/>
          <p:nvPr/>
        </p:nvSpPr>
        <p:spPr>
          <a:xfrm>
            <a:off x="2130575" y="5921573"/>
            <a:ext cx="265005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BorrowingService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2175272" y="6335911"/>
            <a:ext cx="265005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approve() → notifyApproved()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56883" y="4551983"/>
            <a:ext cx="8477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observers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5727129" y="4737720"/>
            <a:ext cx="70723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-75" kern="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◇────▷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714158" y="4228133"/>
            <a:ext cx="3099495" cy="1241003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14288">
            <a:solidFill>
              <a:srgbClr val="A99F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28445" y="4242420"/>
            <a:ext cx="3070920" cy="568598"/>
          </a:xfrm>
          <a:prstGeom prst="rect">
            <a:avLst/>
          </a:prstGeom>
          <a:solidFill>
            <a:srgbClr val="ECE7F8"/>
          </a:solidFill>
          <a:ln/>
        </p:spPr>
      </p:sp>
      <p:sp>
        <p:nvSpPr>
          <p:cNvPr id="23" name="Shape 21"/>
          <p:cNvSpPr/>
          <p:nvPr/>
        </p:nvSpPr>
        <p:spPr>
          <a:xfrm>
            <a:off x="6728445" y="4796730"/>
            <a:ext cx="3070920" cy="14288"/>
          </a:xfrm>
          <a:prstGeom prst="rect">
            <a:avLst/>
          </a:prstGeom>
          <a:solidFill>
            <a:srgbClr val="A99FD0"/>
          </a:solidFill>
          <a:ln/>
        </p:spPr>
      </p:sp>
      <p:sp>
        <p:nvSpPr>
          <p:cNvPr id="24" name="Text 22"/>
          <p:cNvSpPr/>
          <p:nvPr/>
        </p:nvSpPr>
        <p:spPr>
          <a:xfrm>
            <a:off x="6805404" y="4299570"/>
            <a:ext cx="2917001" cy="220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A5A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«interface»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05404" y="4482405"/>
            <a:ext cx="291700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E2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BorrowingEventObserver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6937995" y="4896743"/>
            <a:ext cx="2743947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onApproved() / onRejected() + onStarted() / onCompleted()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168655" y="5507236"/>
            <a:ext cx="2667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" dirty="0">
                <a:solidFill>
                  <a:srgbClr val="6A5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△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254380" y="5678686"/>
            <a:ext cx="19050" cy="152400"/>
          </a:xfrm>
          <a:prstGeom prst="rect">
            <a:avLst/>
          </a:prstGeom>
          <a:solidFill>
            <a:srgbClr val="A99FD0"/>
          </a:solidFill>
          <a:ln/>
        </p:spPr>
      </p:sp>
      <p:sp>
        <p:nvSpPr>
          <p:cNvPr id="29" name="Shape 27"/>
          <p:cNvSpPr/>
          <p:nvPr/>
        </p:nvSpPr>
        <p:spPr>
          <a:xfrm>
            <a:off x="6790581" y="5831086"/>
            <a:ext cx="2946574" cy="833438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4288">
            <a:solidFill>
              <a:srgbClr val="B3ADA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04868" y="5845373"/>
            <a:ext cx="2917999" cy="404813"/>
          </a:xfrm>
          <a:prstGeom prst="rect">
            <a:avLst/>
          </a:prstGeom>
          <a:solidFill>
            <a:srgbClr val="F1EFE9"/>
          </a:solidFill>
          <a:ln/>
        </p:spPr>
      </p:sp>
      <p:sp>
        <p:nvSpPr>
          <p:cNvPr id="31" name="Shape 29"/>
          <p:cNvSpPr/>
          <p:nvPr/>
        </p:nvSpPr>
        <p:spPr>
          <a:xfrm>
            <a:off x="6804868" y="6235898"/>
            <a:ext cx="2917999" cy="14288"/>
          </a:xfrm>
          <a:prstGeom prst="rect">
            <a:avLst/>
          </a:prstGeom>
          <a:solidFill>
            <a:srgbClr val="B3ADA3"/>
          </a:solidFill>
          <a:ln/>
        </p:spPr>
      </p:sp>
      <p:sp>
        <p:nvSpPr>
          <p:cNvPr id="32" name="Text 30"/>
          <p:cNvSpPr/>
          <p:nvPr/>
        </p:nvSpPr>
        <p:spPr>
          <a:xfrm>
            <a:off x="6970648" y="5921573"/>
            <a:ext cx="258643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EmailNotificationObserver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7014418" y="6335911"/>
            <a:ext cx="258643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onApproved() : 寄出 Email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54380" y="6664523"/>
            <a:ext cx="19050" cy="95250"/>
          </a:xfrm>
          <a:prstGeom prst="rect">
            <a:avLst/>
          </a:prstGeom>
          <a:solidFill>
            <a:srgbClr val="A99FD0"/>
          </a:solidFill>
          <a:ln/>
        </p:spPr>
      </p:sp>
      <p:sp>
        <p:nvSpPr>
          <p:cNvPr id="35" name="Shape 33"/>
          <p:cNvSpPr/>
          <p:nvPr/>
        </p:nvSpPr>
        <p:spPr>
          <a:xfrm>
            <a:off x="6729413" y="6759773"/>
            <a:ext cx="3068985" cy="833438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4288">
            <a:solidFill>
              <a:srgbClr val="B3ADA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43700" y="6774061"/>
            <a:ext cx="3040410" cy="404813"/>
          </a:xfrm>
          <a:prstGeom prst="rect">
            <a:avLst/>
          </a:prstGeom>
          <a:solidFill>
            <a:srgbClr val="F1EFE9"/>
          </a:solidFill>
          <a:ln/>
        </p:spPr>
      </p:sp>
      <p:sp>
        <p:nvSpPr>
          <p:cNvPr id="37" name="Shape 35"/>
          <p:cNvSpPr/>
          <p:nvPr/>
        </p:nvSpPr>
        <p:spPr>
          <a:xfrm>
            <a:off x="6743700" y="7164586"/>
            <a:ext cx="3040410" cy="14288"/>
          </a:xfrm>
          <a:prstGeom prst="rect">
            <a:avLst/>
          </a:prstGeom>
          <a:solidFill>
            <a:srgbClr val="B3ADA3"/>
          </a:solidFill>
          <a:ln/>
        </p:spPr>
      </p:sp>
      <p:sp>
        <p:nvSpPr>
          <p:cNvPr id="38" name="Text 36"/>
          <p:cNvSpPr/>
          <p:nvPr/>
        </p:nvSpPr>
        <p:spPr>
          <a:xfrm>
            <a:off x="6907644" y="6850261"/>
            <a:ext cx="271252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InboxNotificationObserver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6953250" y="7264598"/>
            <a:ext cx="271252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onApproved() : 寫入站內收件夾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892305" y="7688461"/>
            <a:ext cx="301752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9A95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＋ SmsObserver ＋ LineObserver …</a:t>
            </a:r>
            <a:endParaRPr lang="en-US" sz="1125" dirty="0"/>
          </a:p>
        </p:txBody>
      </p:sp>
      <p:sp>
        <p:nvSpPr>
          <p:cNvPr id="41" name="Text 39"/>
          <p:cNvSpPr/>
          <p:nvPr/>
        </p:nvSpPr>
        <p:spPr>
          <a:xfrm>
            <a:off x="10744200" y="3828604"/>
            <a:ext cx="704088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A8A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為何使用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0744200" y="4281041"/>
            <a:ext cx="6592824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23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狀態變更需通知相關人員，但通知方式（Email / 簡訊 / 推播）不該寫死在 Service 內。</a:t>
            </a:r>
            <a:endParaRPr lang="en-US" sz="2325" dirty="0"/>
          </a:p>
        </p:txBody>
      </p:sp>
      <p:sp>
        <p:nvSpPr>
          <p:cNvPr id="43" name="Text 41"/>
          <p:cNvSpPr/>
          <p:nvPr/>
        </p:nvSpPr>
        <p:spPr>
          <a:xfrm>
            <a:off x="10744200" y="5549652"/>
            <a:ext cx="704088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A8A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設計特色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0744200" y="6021139"/>
            <a:ext cx="21342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1033820" y="6021139"/>
            <a:ext cx="629451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繼承 Publisher，只發事件、不感知通知實作。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10744200" y="6954589"/>
            <a:ext cx="21342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11033820" y="6954589"/>
            <a:ext cx="629451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自動注入所有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Observer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Bean（目前 Email＋站內收件夾）。</a:t>
            </a:r>
            <a:endParaRPr lang="en-US" sz="2100" dirty="0"/>
          </a:p>
        </p:txBody>
      </p:sp>
      <p:sp>
        <p:nvSpPr>
          <p:cNvPr id="48" name="Text 46"/>
          <p:cNvSpPr/>
          <p:nvPr/>
        </p:nvSpPr>
        <p:spPr>
          <a:xfrm>
            <a:off x="10744200" y="7888039"/>
            <a:ext cx="2134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1033820" y="7888039"/>
            <a:ext cx="641869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新增管道＝加一個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@Component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，零修改（OCP）。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62000"/>
            <a:ext cx="176022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BEHAVIORAL · 設計模式 03 /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214438"/>
            <a:ext cx="17602200" cy="729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9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 Pattern — 時段衝突檢查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1143000" y="2153543"/>
            <a:ext cx="16002000" cy="1905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2496443"/>
            <a:ext cx="9067800" cy="7123807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84288" y="4853360"/>
            <a:ext cx="2384450" cy="823913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 w="14288">
            <a:solidFill>
              <a:srgbClr val="B3AD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98575" y="4867647"/>
            <a:ext cx="2355875" cy="395288"/>
          </a:xfrm>
          <a:prstGeom prst="rect">
            <a:avLst/>
          </a:prstGeom>
          <a:solidFill>
            <a:srgbClr val="F1EFE9"/>
          </a:solidFill>
          <a:ln/>
        </p:spPr>
      </p:sp>
      <p:sp>
        <p:nvSpPr>
          <p:cNvPr id="8" name="Shape 6"/>
          <p:cNvSpPr/>
          <p:nvPr/>
        </p:nvSpPr>
        <p:spPr>
          <a:xfrm>
            <a:off x="1698575" y="5248647"/>
            <a:ext cx="2355875" cy="14288"/>
          </a:xfrm>
          <a:prstGeom prst="rect">
            <a:avLst/>
          </a:prstGeom>
          <a:solidFill>
            <a:srgbClr val="B3ADA3"/>
          </a:solidFill>
          <a:ln/>
        </p:spPr>
      </p:sp>
      <p:sp>
        <p:nvSpPr>
          <p:cNvPr id="9" name="Text 7"/>
          <p:cNvSpPr/>
          <p:nvPr/>
        </p:nvSpPr>
        <p:spPr>
          <a:xfrm>
            <a:off x="1850975" y="4943847"/>
            <a:ext cx="20510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TimeConflictValidator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1889075" y="5348660"/>
            <a:ext cx="20510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conflictStrategy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338" y="5053385"/>
            <a:ext cx="61912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 注入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4400401" y="5253410"/>
            <a:ext cx="412924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-150" kern="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┄┄┄▷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68863" y="4766742"/>
            <a:ext cx="4600575" cy="997223"/>
          </a:xfrm>
          <a:prstGeom prst="roundRect">
            <a:avLst>
              <a:gd name="adj" fmla="val 3821"/>
            </a:avLst>
          </a:prstGeom>
          <a:solidFill>
            <a:srgbClr val="FFFFFF"/>
          </a:solidFill>
          <a:ln w="14288">
            <a:solidFill>
              <a:srgbClr val="A99F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83150" y="4781029"/>
            <a:ext cx="4572000" cy="568598"/>
          </a:xfrm>
          <a:prstGeom prst="rect">
            <a:avLst/>
          </a:prstGeom>
          <a:solidFill>
            <a:srgbClr val="ECE7F8"/>
          </a:solidFill>
          <a:ln/>
        </p:spPr>
      </p:sp>
      <p:sp>
        <p:nvSpPr>
          <p:cNvPr id="15" name="Shape 13"/>
          <p:cNvSpPr/>
          <p:nvPr/>
        </p:nvSpPr>
        <p:spPr>
          <a:xfrm>
            <a:off x="5083150" y="5335339"/>
            <a:ext cx="4572000" cy="14288"/>
          </a:xfrm>
          <a:prstGeom prst="rect">
            <a:avLst/>
          </a:prstGeom>
          <a:solidFill>
            <a:srgbClr val="A99FD0"/>
          </a:solidFill>
          <a:ln/>
        </p:spPr>
      </p:sp>
      <p:sp>
        <p:nvSpPr>
          <p:cNvPr id="16" name="Text 14"/>
          <p:cNvSpPr/>
          <p:nvPr/>
        </p:nvSpPr>
        <p:spPr>
          <a:xfrm>
            <a:off x="5106010" y="4838179"/>
            <a:ext cx="4526280" cy="220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A5A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«interface»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06010" y="5021014"/>
            <a:ext cx="452628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E2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ConflictCheckStrategy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5311750" y="5435352"/>
            <a:ext cx="425196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hasConflict(existing, start, end) : boolean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81650" y="5821114"/>
            <a:ext cx="2667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" dirty="0">
                <a:solidFill>
                  <a:srgbClr val="6A5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△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667375" y="5992564"/>
            <a:ext cx="19050" cy="152400"/>
          </a:xfrm>
          <a:prstGeom prst="rect">
            <a:avLst/>
          </a:prstGeom>
          <a:solidFill>
            <a:srgbClr val="A99FD0"/>
          </a:solidFill>
          <a:ln/>
        </p:spPr>
      </p:sp>
      <p:sp>
        <p:nvSpPr>
          <p:cNvPr id="21" name="Shape 19"/>
          <p:cNvSpPr/>
          <p:nvPr/>
        </p:nvSpPr>
        <p:spPr>
          <a:xfrm>
            <a:off x="3045768" y="6144964"/>
            <a:ext cx="5262265" cy="19050"/>
          </a:xfrm>
          <a:prstGeom prst="rect">
            <a:avLst/>
          </a:prstGeom>
          <a:solidFill>
            <a:srgbClr val="A99FD0"/>
          </a:solidFill>
          <a:ln/>
        </p:spPr>
      </p:sp>
      <p:sp>
        <p:nvSpPr>
          <p:cNvPr id="22" name="Shape 20"/>
          <p:cNvSpPr/>
          <p:nvPr/>
        </p:nvSpPr>
        <p:spPr>
          <a:xfrm>
            <a:off x="3045768" y="6335464"/>
            <a:ext cx="2191420" cy="1014413"/>
          </a:xfrm>
          <a:prstGeom prst="roundRect">
            <a:avLst>
              <a:gd name="adj" fmla="val 3756"/>
            </a:avLst>
          </a:prstGeom>
          <a:solidFill>
            <a:srgbClr val="FFFFFF"/>
          </a:solidFill>
          <a:ln w="14288">
            <a:solidFill>
              <a:srgbClr val="B3ADA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60055" y="6349752"/>
            <a:ext cx="2162845" cy="385763"/>
          </a:xfrm>
          <a:prstGeom prst="rect">
            <a:avLst/>
          </a:prstGeom>
          <a:solidFill>
            <a:srgbClr val="F1EFE9"/>
          </a:solidFill>
          <a:ln/>
        </p:spPr>
      </p:sp>
      <p:sp>
        <p:nvSpPr>
          <p:cNvPr id="24" name="Shape 22"/>
          <p:cNvSpPr/>
          <p:nvPr/>
        </p:nvSpPr>
        <p:spPr>
          <a:xfrm>
            <a:off x="3060055" y="6721227"/>
            <a:ext cx="2162845" cy="14288"/>
          </a:xfrm>
          <a:prstGeom prst="rect">
            <a:avLst/>
          </a:prstGeom>
          <a:solidFill>
            <a:srgbClr val="B3ADA3"/>
          </a:solidFill>
          <a:ln/>
        </p:spPr>
      </p:sp>
      <p:sp>
        <p:nvSpPr>
          <p:cNvPr id="25" name="Text 23"/>
          <p:cNvSpPr/>
          <p:nvPr/>
        </p:nvSpPr>
        <p:spPr>
          <a:xfrm>
            <a:off x="3193405" y="6425952"/>
            <a:ext cx="189614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StrictOverlapStrategy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231505" y="6821239"/>
            <a:ext cx="189614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575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&lt; existEnd &amp;&amp; end &gt; existStart</a:t>
            </a:r>
            <a:endParaRPr lang="en-US" sz="1125" dirty="0"/>
          </a:p>
        </p:txBody>
      </p:sp>
      <p:sp>
        <p:nvSpPr>
          <p:cNvPr id="27" name="Shape 25"/>
          <p:cNvSpPr/>
          <p:nvPr/>
        </p:nvSpPr>
        <p:spPr>
          <a:xfrm>
            <a:off x="5427687" y="6335464"/>
            <a:ext cx="2880345" cy="1014413"/>
          </a:xfrm>
          <a:prstGeom prst="roundRect">
            <a:avLst>
              <a:gd name="adj" fmla="val 3756"/>
            </a:avLst>
          </a:prstGeom>
          <a:solidFill>
            <a:srgbClr val="FFFFFF"/>
          </a:solidFill>
          <a:ln w="14288">
            <a:solidFill>
              <a:srgbClr val="B3ADA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41975" y="6349752"/>
            <a:ext cx="2851770" cy="385763"/>
          </a:xfrm>
          <a:prstGeom prst="rect">
            <a:avLst/>
          </a:prstGeom>
          <a:solidFill>
            <a:srgbClr val="F1EFE9"/>
          </a:solidFill>
          <a:ln/>
        </p:spPr>
      </p:sp>
      <p:sp>
        <p:nvSpPr>
          <p:cNvPr id="29" name="Shape 27"/>
          <p:cNvSpPr/>
          <p:nvPr/>
        </p:nvSpPr>
        <p:spPr>
          <a:xfrm>
            <a:off x="5441975" y="6721227"/>
            <a:ext cx="2851770" cy="14288"/>
          </a:xfrm>
          <a:prstGeom prst="rect">
            <a:avLst/>
          </a:prstGeom>
          <a:solidFill>
            <a:srgbClr val="B3ADA3"/>
          </a:solidFill>
          <a:ln/>
        </p:spPr>
      </p:sp>
      <p:sp>
        <p:nvSpPr>
          <p:cNvPr id="30" name="Text 28"/>
          <p:cNvSpPr/>
          <p:nvPr/>
        </p:nvSpPr>
        <p:spPr>
          <a:xfrm>
            <a:off x="5570648" y="6425952"/>
            <a:ext cx="259442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917"/>
                </a:solidFill>
                <a:highlight>
                  <a:srgbClr val="F1EFE9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BufferedOverlapDecorator </a:t>
            </a:r>
            <a:pPr algn="ctr" indent="0" marL="0">
              <a:buNone/>
            </a:pPr>
            <a:r>
              <a:rPr lang="en-US" sz="975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#65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613425" y="6821239"/>
            <a:ext cx="2594423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575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包裝 inner、延伸時段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10744200" y="3992463"/>
            <a:ext cx="704088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A8A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為何使用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744200" y="4444901"/>
            <a:ext cx="6592824" cy="14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23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衝突判斷演算法多樣（嚴格重疊 / 寬鬆同日 / 加緩衝）；寫死在 Service，更換邏輯就得改 Service 本身。</a:t>
            </a:r>
            <a:endParaRPr lang="en-US" sz="2325" dirty="0"/>
          </a:p>
        </p:txBody>
      </p:sp>
      <p:sp>
        <p:nvSpPr>
          <p:cNvPr id="34" name="Text 32"/>
          <p:cNvSpPr/>
          <p:nvPr/>
        </p:nvSpPr>
        <p:spPr>
          <a:xfrm>
            <a:off x="10744200" y="6185892"/>
            <a:ext cx="704088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A8A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設計特色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0744200" y="6657380"/>
            <a:ext cx="2134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1033820" y="6657380"/>
            <a:ext cx="490035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演算法抽成介面，由 Spring DI 注入。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10744200" y="7190780"/>
            <a:ext cx="2134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1033820" y="7190780"/>
            <a:ext cx="514314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替換策略只需更換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@Bean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設定（OCP）。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10744200" y="7724180"/>
            <a:ext cx="2134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1033820" y="7724180"/>
            <a:ext cx="587746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已用 Decorator 疊加緩衝時間，不改原策略。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62000"/>
            <a:ext cx="176022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BEHAVIORAL · 設計模式 04 /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214438"/>
            <a:ext cx="17602200" cy="729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9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Template Method — 服務層權限守衛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1143000" y="2153543"/>
            <a:ext cx="16002000" cy="1905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2496443"/>
            <a:ext cx="9067800" cy="7123807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13758" y="4796358"/>
            <a:ext cx="4326285" cy="1528539"/>
          </a:xfrm>
          <a:prstGeom prst="roundRect">
            <a:avLst>
              <a:gd name="adj" fmla="val 2493"/>
            </a:avLst>
          </a:prstGeom>
          <a:solidFill>
            <a:srgbClr val="FFFFFF"/>
          </a:solidFill>
          <a:ln w="14288">
            <a:solidFill>
              <a:srgbClr val="A99F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28045" y="4810646"/>
            <a:ext cx="4297710" cy="578123"/>
          </a:xfrm>
          <a:prstGeom prst="rect">
            <a:avLst/>
          </a:prstGeom>
          <a:solidFill>
            <a:srgbClr val="ECE7F8"/>
          </a:solidFill>
          <a:ln/>
        </p:spPr>
      </p:sp>
      <p:sp>
        <p:nvSpPr>
          <p:cNvPr id="8" name="Shape 6"/>
          <p:cNvSpPr/>
          <p:nvPr/>
        </p:nvSpPr>
        <p:spPr>
          <a:xfrm>
            <a:off x="3528045" y="5374481"/>
            <a:ext cx="4297710" cy="14288"/>
          </a:xfrm>
          <a:prstGeom prst="rect">
            <a:avLst/>
          </a:prstGeom>
          <a:solidFill>
            <a:srgbClr val="A99FD0"/>
          </a:solidFill>
          <a:ln/>
        </p:spPr>
      </p:sp>
      <p:sp>
        <p:nvSpPr>
          <p:cNvPr id="9" name="Text 7"/>
          <p:cNvSpPr/>
          <p:nvPr/>
        </p:nvSpPr>
        <p:spPr>
          <a:xfrm>
            <a:off x="3564620" y="4867796"/>
            <a:ext cx="4224561" cy="220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A5A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«abstract»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64620" y="5050631"/>
            <a:ext cx="422456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2E2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AbstractProtectedService</a:t>
            </a:r>
            <a:endParaRPr lang="en-US" sz="1725" dirty="0"/>
          </a:p>
        </p:txBody>
      </p:sp>
      <p:sp>
        <p:nvSpPr>
          <p:cNvPr id="11" name="Text 9"/>
          <p:cNvSpPr/>
          <p:nvPr/>
        </p:nvSpPr>
        <p:spPr>
          <a:xfrm>
            <a:off x="3756645" y="5484019"/>
            <a:ext cx="3969441" cy="76944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requirePermission(actor, perm, Runnable) # supply&lt;T&gt;(actor, perm, Supplier&lt;T&gt;) : T </a:t>
            </a:r>
            <a:pPr algn="l"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9A95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checkPermission(actor, perm) ← 固定骨架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81650" y="6362998"/>
            <a:ext cx="2667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" dirty="0">
                <a:solidFill>
                  <a:srgbClr val="6A5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△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667375" y="6534448"/>
            <a:ext cx="19050" cy="152400"/>
          </a:xfrm>
          <a:prstGeom prst="rect">
            <a:avLst/>
          </a:prstGeom>
          <a:solidFill>
            <a:srgbClr val="A99FD0"/>
          </a:solidFill>
          <a:ln/>
        </p:spPr>
      </p:sp>
      <p:sp>
        <p:nvSpPr>
          <p:cNvPr id="14" name="Shape 12"/>
          <p:cNvSpPr/>
          <p:nvPr/>
        </p:nvSpPr>
        <p:spPr>
          <a:xfrm>
            <a:off x="2755478" y="6686848"/>
            <a:ext cx="5842769" cy="19050"/>
          </a:xfrm>
          <a:prstGeom prst="rect">
            <a:avLst/>
          </a:prstGeom>
          <a:solidFill>
            <a:srgbClr val="A99FD0"/>
          </a:solidFill>
          <a:ln/>
        </p:spPr>
      </p:sp>
      <p:sp>
        <p:nvSpPr>
          <p:cNvPr id="15" name="Shape 13"/>
          <p:cNvSpPr/>
          <p:nvPr/>
        </p:nvSpPr>
        <p:spPr>
          <a:xfrm>
            <a:off x="2755478" y="6877348"/>
            <a:ext cx="1811685" cy="442913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4288">
            <a:solidFill>
              <a:srgbClr val="B3AD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03116" y="6986885"/>
            <a:ext cx="151641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VehicleService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719563" y="6877348"/>
            <a:ext cx="2223195" cy="442913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4288">
            <a:solidFill>
              <a:srgbClr val="B3AD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67201" y="6986885"/>
            <a:ext cx="192792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MaintenanceService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095158" y="6877348"/>
            <a:ext cx="1503090" cy="442913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4288">
            <a:solidFill>
              <a:srgbClr val="B3ADA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42795" y="6986885"/>
            <a:ext cx="120781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UserService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0744200" y="4028629"/>
            <a:ext cx="704088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A8A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為何使用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744200" y="4481066"/>
            <a:ext cx="6592824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23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 Service 的 public 方法都以相同的 </a:t>
            </a:r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(!actor.can(...)) throw </a:t>
            </a:r>
            <a:pPr algn="l" indent="0" marL="0">
              <a:lnSpc>
                <a:spcPct val="160000"/>
              </a:lnSpc>
              <a:buNone/>
            </a:pPr>
            <a:r>
              <a:rPr lang="en-US" sz="23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開頭，違反 DRY。</a:t>
            </a:r>
            <a:endParaRPr lang="en-US" sz="2325" dirty="0"/>
          </a:p>
        </p:txBody>
      </p:sp>
      <p:sp>
        <p:nvSpPr>
          <p:cNvPr id="23" name="Text 21"/>
          <p:cNvSpPr/>
          <p:nvPr/>
        </p:nvSpPr>
        <p:spPr>
          <a:xfrm>
            <a:off x="10744200" y="5749677"/>
            <a:ext cx="704088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A8A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設計特色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744200" y="6221164"/>
            <a:ext cx="2134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033820" y="6221164"/>
            <a:ext cx="557403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「先驗證、後執行」骨架固定在抽象基類。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0744200" y="6754564"/>
            <a:ext cx="21342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033820" y="6754564"/>
            <a:ext cx="629451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子類以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Runnable / Supplier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提供業務邏輯。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0744200" y="7688014"/>
            <a:ext cx="2134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1033820" y="7688014"/>
            <a:ext cx="44005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權限與未來稽核邏輯集中於一處。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62000"/>
            <a:ext cx="176022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CREATIONAL · 設計模式 05 /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214438"/>
            <a:ext cx="17602200" cy="729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9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Factory Method — 角色建立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1143000" y="2153543"/>
            <a:ext cx="16002000" cy="1905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2496443"/>
            <a:ext cx="9067800" cy="7123807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30673" y="5074816"/>
            <a:ext cx="2695575" cy="985838"/>
          </a:xfrm>
          <a:prstGeom prst="roundRect">
            <a:avLst>
              <a:gd name="adj" fmla="val 3865"/>
            </a:avLst>
          </a:prstGeom>
          <a:solidFill>
            <a:srgbClr val="FFFFFF"/>
          </a:solidFill>
          <a:ln w="14288">
            <a:solidFill>
              <a:srgbClr val="B3AD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44960" y="5089103"/>
            <a:ext cx="2667000" cy="557213"/>
          </a:xfrm>
          <a:prstGeom prst="rect">
            <a:avLst/>
          </a:prstGeom>
          <a:solidFill>
            <a:srgbClr val="F1EFE9"/>
          </a:solidFill>
          <a:ln/>
        </p:spPr>
      </p:sp>
      <p:sp>
        <p:nvSpPr>
          <p:cNvPr id="8" name="Shape 6"/>
          <p:cNvSpPr/>
          <p:nvPr/>
        </p:nvSpPr>
        <p:spPr>
          <a:xfrm>
            <a:off x="1944960" y="5632028"/>
            <a:ext cx="2667000" cy="14288"/>
          </a:xfrm>
          <a:prstGeom prst="rect">
            <a:avLst/>
          </a:prstGeom>
          <a:solidFill>
            <a:srgbClr val="B3ADA3"/>
          </a:solidFill>
          <a:ln/>
        </p:spPr>
      </p:sp>
      <p:sp>
        <p:nvSpPr>
          <p:cNvPr id="9" name="Text 7"/>
          <p:cNvSpPr/>
          <p:nvPr/>
        </p:nvSpPr>
        <p:spPr>
          <a:xfrm>
            <a:off x="2021160" y="5146253"/>
            <a:ext cx="25146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25" i="1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«utility»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2021160" y="5317703"/>
            <a:ext cx="25146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RoleFactory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2135460" y="5732041"/>
            <a:ext cx="236601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create(roleName) : Role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35798" y="5362947"/>
            <a:ext cx="6762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creates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4967436" y="5548685"/>
            <a:ext cx="412924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-150" kern="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┄┄┄▷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45423" y="4954860"/>
            <a:ext cx="3777630" cy="1225823"/>
          </a:xfrm>
          <a:prstGeom prst="roundRect">
            <a:avLst>
              <a:gd name="adj" fmla="val 3108"/>
            </a:avLst>
          </a:prstGeom>
          <a:solidFill>
            <a:srgbClr val="FFFFFF"/>
          </a:solidFill>
          <a:ln w="14288">
            <a:solidFill>
              <a:srgbClr val="A99F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59710" y="4969148"/>
            <a:ext cx="3749055" cy="568598"/>
          </a:xfrm>
          <a:prstGeom prst="rect">
            <a:avLst/>
          </a:prstGeom>
          <a:solidFill>
            <a:srgbClr val="ECE7F8"/>
          </a:solidFill>
          <a:ln/>
        </p:spPr>
      </p:sp>
      <p:sp>
        <p:nvSpPr>
          <p:cNvPr id="16" name="Shape 14"/>
          <p:cNvSpPr/>
          <p:nvPr/>
        </p:nvSpPr>
        <p:spPr>
          <a:xfrm>
            <a:off x="5659710" y="5523458"/>
            <a:ext cx="3749055" cy="14288"/>
          </a:xfrm>
          <a:prstGeom prst="rect">
            <a:avLst/>
          </a:prstGeom>
          <a:solidFill>
            <a:srgbClr val="A99FD0"/>
          </a:solidFill>
          <a:ln/>
        </p:spPr>
      </p:sp>
      <p:sp>
        <p:nvSpPr>
          <p:cNvPr id="17" name="Text 15"/>
          <p:cNvSpPr/>
          <p:nvPr/>
        </p:nvSpPr>
        <p:spPr>
          <a:xfrm>
            <a:off x="5723718" y="5026298"/>
            <a:ext cx="3621040" cy="220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A5A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«interface»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723718" y="5209133"/>
            <a:ext cx="362104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E2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5888310" y="5623471"/>
            <a:ext cx="3404327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getName() : String + getPermissions() : Set&lt;Permission&gt;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81650" y="6237833"/>
            <a:ext cx="2667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" dirty="0">
                <a:solidFill>
                  <a:srgbClr val="6A5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△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667375" y="6409283"/>
            <a:ext cx="19050" cy="152400"/>
          </a:xfrm>
          <a:prstGeom prst="rect">
            <a:avLst/>
          </a:prstGeom>
          <a:solidFill>
            <a:srgbClr val="A99FD0"/>
          </a:solidFill>
          <a:ln/>
        </p:spPr>
      </p:sp>
      <p:sp>
        <p:nvSpPr>
          <p:cNvPr id="22" name="Shape 20"/>
          <p:cNvSpPr/>
          <p:nvPr/>
        </p:nvSpPr>
        <p:spPr>
          <a:xfrm>
            <a:off x="3469853" y="6561683"/>
            <a:ext cx="4414019" cy="19050"/>
          </a:xfrm>
          <a:prstGeom prst="rect">
            <a:avLst/>
          </a:prstGeom>
          <a:solidFill>
            <a:srgbClr val="A99FD0"/>
          </a:solidFill>
          <a:ln/>
        </p:spPr>
      </p:sp>
      <p:sp>
        <p:nvSpPr>
          <p:cNvPr id="23" name="Shape 21"/>
          <p:cNvSpPr/>
          <p:nvPr/>
        </p:nvSpPr>
        <p:spPr>
          <a:xfrm>
            <a:off x="3469853" y="6752183"/>
            <a:ext cx="1207815" cy="409575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4288">
            <a:solidFill>
              <a:srgbClr val="B3ADA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98441" y="6852196"/>
            <a:ext cx="95064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AdminRole</a:t>
            </a:r>
            <a:endParaRPr lang="en-US" sz="1275" dirty="0"/>
          </a:p>
        </p:txBody>
      </p:sp>
      <p:sp>
        <p:nvSpPr>
          <p:cNvPr id="25" name="Shape 23"/>
          <p:cNvSpPr/>
          <p:nvPr/>
        </p:nvSpPr>
        <p:spPr>
          <a:xfrm>
            <a:off x="4830068" y="6752183"/>
            <a:ext cx="1402110" cy="409575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4288">
            <a:solidFill>
              <a:srgbClr val="B3ADA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8655" y="6852196"/>
            <a:ext cx="114493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ManagerRole</a:t>
            </a:r>
            <a:endParaRPr lang="en-US" sz="1275" dirty="0"/>
          </a:p>
        </p:txBody>
      </p:sp>
      <p:sp>
        <p:nvSpPr>
          <p:cNvPr id="27" name="Shape 25"/>
          <p:cNvSpPr/>
          <p:nvPr/>
        </p:nvSpPr>
        <p:spPr>
          <a:xfrm>
            <a:off x="6384578" y="6752183"/>
            <a:ext cx="1499295" cy="409575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4288">
            <a:solidFill>
              <a:srgbClr val="B3ADA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13165" y="6852196"/>
            <a:ext cx="124212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EmployeeRole</a:t>
            </a:r>
            <a:endParaRPr lang="en-US" sz="1275" dirty="0"/>
          </a:p>
        </p:txBody>
      </p:sp>
      <p:sp>
        <p:nvSpPr>
          <p:cNvPr id="29" name="Text 27"/>
          <p:cNvSpPr/>
          <p:nvPr/>
        </p:nvSpPr>
        <p:spPr>
          <a:xfrm>
            <a:off x="10744200" y="4228133"/>
            <a:ext cx="704088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A8A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為何使用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744200" y="4680570"/>
            <a:ext cx="6592824" cy="9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23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需依字串建立對應 </a:t>
            </a:r>
            <a:pPr algn="l" indent="0" marL="0">
              <a:lnSpc>
                <a:spcPct val="160000"/>
              </a:lnSpc>
              <a:buNone/>
            </a:pPr>
            <a:r>
              <a:rPr lang="en-US" sz="2025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</a:t>
            </a:r>
            <a:pPr algn="l" indent="0" marL="0">
              <a:lnSpc>
                <a:spcPct val="160000"/>
              </a:lnSpc>
              <a:buNone/>
            </a:pPr>
            <a:r>
              <a:rPr lang="en-US" sz="23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物件；直接 </a:t>
            </a:r>
            <a:pPr algn="l" indent="0" marL="0">
              <a:lnSpc>
                <a:spcPct val="160000"/>
              </a:lnSpc>
              <a:buNone/>
            </a:pPr>
            <a:r>
              <a:rPr lang="en-US" sz="2025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</a:t>
            </a:r>
            <a:pPr algn="l" indent="0" marL="0">
              <a:lnSpc>
                <a:spcPct val="160000"/>
              </a:lnSpc>
              <a:buNone/>
            </a:pPr>
            <a:r>
              <a:rPr lang="en-US" sz="23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具體類別會產生對具體型別的依賴。</a:t>
            </a:r>
            <a:endParaRPr lang="en-US" sz="2325" dirty="0"/>
          </a:p>
        </p:txBody>
      </p:sp>
      <p:sp>
        <p:nvSpPr>
          <p:cNvPr id="31" name="Text 29"/>
          <p:cNvSpPr/>
          <p:nvPr/>
        </p:nvSpPr>
        <p:spPr>
          <a:xfrm>
            <a:off x="10744200" y="5950148"/>
            <a:ext cx="704088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A8A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設計特色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744200" y="6421636"/>
            <a:ext cx="2134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1033820" y="6421636"/>
            <a:ext cx="513675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RoleFactory.create()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集中物件建立。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10744200" y="6955036"/>
            <a:ext cx="2134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1033820" y="6955036"/>
            <a:ext cx="428849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呼叫端只依賴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介面（DIP）。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10744200" y="7488436"/>
            <a:ext cx="2134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1033820" y="7488436"/>
            <a:ext cx="522688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新增角色＝一類別＋一行 case（OCP）。</a:t>
            </a:r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62000"/>
            <a:ext cx="176022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STRUCTURAL · 設計模式 06 /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214438"/>
            <a:ext cx="17602200" cy="729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9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Adapter — Repository 橋接</a:t>
            </a:r>
            <a:endParaRPr lang="en-US" sz="4950" dirty="0"/>
          </a:p>
        </p:txBody>
      </p:sp>
      <p:sp>
        <p:nvSpPr>
          <p:cNvPr id="4" name="Shape 2"/>
          <p:cNvSpPr/>
          <p:nvPr/>
        </p:nvSpPr>
        <p:spPr>
          <a:xfrm>
            <a:off x="1143000" y="2153543"/>
            <a:ext cx="16002000" cy="1905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2496443"/>
            <a:ext cx="9067800" cy="7123807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22303" y="4285729"/>
            <a:ext cx="4509195" cy="997223"/>
          </a:xfrm>
          <a:prstGeom prst="roundRect">
            <a:avLst>
              <a:gd name="adj" fmla="val 3821"/>
            </a:avLst>
          </a:prstGeom>
          <a:solidFill>
            <a:srgbClr val="FFFFFF"/>
          </a:solidFill>
          <a:ln w="14288">
            <a:solidFill>
              <a:srgbClr val="A99F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36590" y="4300017"/>
            <a:ext cx="4480620" cy="568598"/>
          </a:xfrm>
          <a:prstGeom prst="rect">
            <a:avLst/>
          </a:prstGeom>
          <a:solidFill>
            <a:srgbClr val="ECE7F8"/>
          </a:solidFill>
          <a:ln/>
        </p:spPr>
      </p:sp>
      <p:sp>
        <p:nvSpPr>
          <p:cNvPr id="8" name="Shape 6"/>
          <p:cNvSpPr/>
          <p:nvPr/>
        </p:nvSpPr>
        <p:spPr>
          <a:xfrm>
            <a:off x="3436590" y="4854327"/>
            <a:ext cx="4480620" cy="14288"/>
          </a:xfrm>
          <a:prstGeom prst="rect">
            <a:avLst/>
          </a:prstGeom>
          <a:solidFill>
            <a:srgbClr val="A99FD0"/>
          </a:solidFill>
          <a:ln/>
        </p:spPr>
      </p:sp>
      <p:sp>
        <p:nvSpPr>
          <p:cNvPr id="9" name="Text 7"/>
          <p:cNvSpPr/>
          <p:nvPr/>
        </p:nvSpPr>
        <p:spPr>
          <a:xfrm>
            <a:off x="3464019" y="4357167"/>
            <a:ext cx="4425761" cy="220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A5A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«interface» Target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64019" y="4540002"/>
            <a:ext cx="442576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E2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IVehicleRepository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3665190" y="4954339"/>
            <a:ext cx="415783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findById() / findAll() / save() / delete()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81650" y="5321052"/>
            <a:ext cx="2667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" dirty="0">
                <a:solidFill>
                  <a:srgbClr val="6A5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△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667375" y="5492502"/>
            <a:ext cx="19050" cy="152400"/>
          </a:xfrm>
          <a:prstGeom prst="rect">
            <a:avLst/>
          </a:prstGeom>
          <a:solidFill>
            <a:srgbClr val="A99FD0"/>
          </a:solidFill>
          <a:ln/>
        </p:spPr>
      </p:sp>
      <p:sp>
        <p:nvSpPr>
          <p:cNvPr id="14" name="Shape 12"/>
          <p:cNvSpPr/>
          <p:nvPr/>
        </p:nvSpPr>
        <p:spPr>
          <a:xfrm>
            <a:off x="3696593" y="5644902"/>
            <a:ext cx="3960540" cy="833438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4288">
            <a:solidFill>
              <a:srgbClr val="B3AD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10880" y="5659189"/>
            <a:ext cx="3931965" cy="404813"/>
          </a:xfrm>
          <a:prstGeom prst="rect">
            <a:avLst/>
          </a:prstGeom>
          <a:solidFill>
            <a:srgbClr val="F1EFE9"/>
          </a:solidFill>
          <a:ln/>
        </p:spPr>
      </p:sp>
      <p:sp>
        <p:nvSpPr>
          <p:cNvPr id="16" name="Shape 14"/>
          <p:cNvSpPr/>
          <p:nvPr/>
        </p:nvSpPr>
        <p:spPr>
          <a:xfrm>
            <a:off x="3710880" y="6049714"/>
            <a:ext cx="3931965" cy="14288"/>
          </a:xfrm>
          <a:prstGeom prst="rect">
            <a:avLst/>
          </a:prstGeom>
          <a:solidFill>
            <a:srgbClr val="B3ADA3"/>
          </a:solidFill>
          <a:ln/>
        </p:spPr>
      </p:sp>
      <p:sp>
        <p:nvSpPr>
          <p:cNvPr id="17" name="Text 15"/>
          <p:cNvSpPr/>
          <p:nvPr/>
        </p:nvSpPr>
        <p:spPr>
          <a:xfrm>
            <a:off x="3880501" y="5735389"/>
            <a:ext cx="3592724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C1917"/>
                </a:solidFill>
                <a:highlight>
                  <a:srgbClr val="F1EFE9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VehicleRepositoryAdapter </a:t>
            </a:r>
            <a:pPr algn="ctr" indent="0" marL="0">
              <a:buNone/>
            </a:pPr>
            <a:r>
              <a:rPr lang="en-US" sz="10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Adapter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3939480" y="6149727"/>
            <a:ext cx="359272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toDomain(entity) / toEntity(vehicle)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05264" y="6535489"/>
            <a:ext cx="101947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delegates ▽</a:t>
            </a:r>
            <a:endParaRPr lang="en-US" sz="1125" dirty="0"/>
          </a:p>
        </p:txBody>
      </p:sp>
      <p:sp>
        <p:nvSpPr>
          <p:cNvPr id="20" name="Shape 18"/>
          <p:cNvSpPr/>
          <p:nvPr/>
        </p:nvSpPr>
        <p:spPr>
          <a:xfrm>
            <a:off x="5667375" y="6721227"/>
            <a:ext cx="19050" cy="133350"/>
          </a:xfrm>
          <a:prstGeom prst="rect">
            <a:avLst/>
          </a:prstGeom>
          <a:solidFill>
            <a:srgbClr val="B3ADA3"/>
          </a:solidFill>
          <a:ln/>
        </p:spPr>
      </p:sp>
      <p:sp>
        <p:nvSpPr>
          <p:cNvPr id="21" name="Shape 19"/>
          <p:cNvSpPr/>
          <p:nvPr/>
        </p:nvSpPr>
        <p:spPr>
          <a:xfrm>
            <a:off x="3513758" y="6854577"/>
            <a:ext cx="4326285" cy="976312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4288">
            <a:solidFill>
              <a:srgbClr val="B3ADA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8045" y="6868864"/>
            <a:ext cx="4297710" cy="547688"/>
          </a:xfrm>
          <a:prstGeom prst="rect">
            <a:avLst/>
          </a:prstGeom>
          <a:solidFill>
            <a:srgbClr val="F1EFE9"/>
          </a:solidFill>
          <a:ln/>
        </p:spPr>
      </p:sp>
      <p:sp>
        <p:nvSpPr>
          <p:cNvPr id="23" name="Shape 21"/>
          <p:cNvSpPr/>
          <p:nvPr/>
        </p:nvSpPr>
        <p:spPr>
          <a:xfrm>
            <a:off x="3528045" y="7402264"/>
            <a:ext cx="4297710" cy="14288"/>
          </a:xfrm>
          <a:prstGeom prst="rect">
            <a:avLst/>
          </a:prstGeom>
          <a:solidFill>
            <a:srgbClr val="B3ADA3"/>
          </a:solidFill>
          <a:ln/>
        </p:spPr>
      </p:sp>
      <p:sp>
        <p:nvSpPr>
          <p:cNvPr id="24" name="Text 22"/>
          <p:cNvSpPr/>
          <p:nvPr/>
        </p:nvSpPr>
        <p:spPr>
          <a:xfrm>
            <a:off x="3564620" y="6926014"/>
            <a:ext cx="422456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25" i="1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«Spring Data JPA» Adaptee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3564620" y="7097464"/>
            <a:ext cx="422456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JpaVehicleRepo</a:t>
            </a:r>
            <a:endParaRPr lang="en-US" sz="1575" dirty="0"/>
          </a:p>
        </p:txBody>
      </p:sp>
      <p:sp>
        <p:nvSpPr>
          <p:cNvPr id="26" name="Text 24"/>
          <p:cNvSpPr/>
          <p:nvPr/>
        </p:nvSpPr>
        <p:spPr>
          <a:xfrm>
            <a:off x="3756645" y="7502277"/>
            <a:ext cx="396944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 JpaRepository&lt;VehicleEntity, UUID&gt;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744200" y="4028629"/>
            <a:ext cx="704088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A8A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為何使用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744200" y="4481066"/>
            <a:ext cx="6592824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23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定義 </a:t>
            </a:r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IVehicleRepository </a:t>
            </a:r>
            <a:pPr algn="l" indent="0" marL="0">
              <a:lnSpc>
                <a:spcPct val="160000"/>
              </a:lnSpc>
              <a:buNone/>
            </a:pPr>
            <a:r>
              <a:rPr lang="en-US" sz="23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，但持久化用 Spring Data JPA，兩者介面不相容。</a:t>
            </a:r>
            <a:endParaRPr lang="en-US" sz="2325" dirty="0"/>
          </a:p>
        </p:txBody>
      </p:sp>
      <p:sp>
        <p:nvSpPr>
          <p:cNvPr id="29" name="Text 27"/>
          <p:cNvSpPr/>
          <p:nvPr/>
        </p:nvSpPr>
        <p:spPr>
          <a:xfrm>
            <a:off x="10744200" y="5749677"/>
            <a:ext cx="704088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A8A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設計特色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744200" y="6221164"/>
            <a:ext cx="2134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1033820" y="6221164"/>
            <a:ext cx="58581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 實作 Domain 介面、內部委派 JPA。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10744200" y="6754564"/>
            <a:ext cx="21342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1033820" y="6754564"/>
            <a:ext cx="629451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toDomain() / toEntity()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雙向轉換（Object Adapter）。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10744200" y="7688014"/>
            <a:ext cx="2134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1033820" y="7688014"/>
            <a:ext cx="648025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不感知 JPA（DIP）；5 個 Adapter 同構。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64381"/>
            <a:ext cx="4960114" cy="3571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CREATIONAL · 設計模式 07 / 10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823645" y="762000"/>
            <a:ext cx="1104900" cy="323850"/>
          </a:xfrm>
          <a:prstGeom prst="roundRect">
            <a:avLst>
              <a:gd name="adj" fmla="val 50000"/>
            </a:avLst>
          </a:prstGeom>
          <a:solidFill>
            <a:srgbClr val="1E7A46"/>
          </a:solidFill>
          <a:ln/>
        </p:spPr>
      </p:sp>
      <p:sp>
        <p:nvSpPr>
          <p:cNvPr id="4" name="Text 2"/>
          <p:cNvSpPr/>
          <p:nvPr/>
        </p:nvSpPr>
        <p:spPr>
          <a:xfrm>
            <a:off x="5956995" y="790575"/>
            <a:ext cx="914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重構 #63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43000" y="1219200"/>
            <a:ext cx="17602200" cy="729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9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Builder — 無副作用還原借車申請</a:t>
            </a:r>
            <a:endParaRPr lang="en-US" sz="4950" dirty="0"/>
          </a:p>
        </p:txBody>
      </p:sp>
      <p:sp>
        <p:nvSpPr>
          <p:cNvPr id="6" name="Shape 4"/>
          <p:cNvSpPr/>
          <p:nvPr/>
        </p:nvSpPr>
        <p:spPr>
          <a:xfrm>
            <a:off x="1143000" y="2158305"/>
            <a:ext cx="16002000" cy="1905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2501205"/>
            <a:ext cx="9067800" cy="7119045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46933" y="4689649"/>
            <a:ext cx="2604195" cy="1303883"/>
          </a:xfrm>
          <a:prstGeom prst="roundRect">
            <a:avLst>
              <a:gd name="adj" fmla="val 2922"/>
            </a:avLst>
          </a:prstGeom>
          <a:solidFill>
            <a:srgbClr val="FFFFFF"/>
          </a:solidFill>
          <a:ln w="14288">
            <a:solidFill>
              <a:srgbClr val="B3AD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61220" y="4703936"/>
            <a:ext cx="2575620" cy="395288"/>
          </a:xfrm>
          <a:prstGeom prst="rect">
            <a:avLst/>
          </a:prstGeom>
          <a:solidFill>
            <a:srgbClr val="F1EFE9"/>
          </a:solidFill>
          <a:ln/>
        </p:spPr>
      </p:sp>
      <p:sp>
        <p:nvSpPr>
          <p:cNvPr id="10" name="Shape 8"/>
          <p:cNvSpPr/>
          <p:nvPr/>
        </p:nvSpPr>
        <p:spPr>
          <a:xfrm>
            <a:off x="2261220" y="5084936"/>
            <a:ext cx="2575620" cy="14288"/>
          </a:xfrm>
          <a:prstGeom prst="rect">
            <a:avLst/>
          </a:prstGeom>
          <a:solidFill>
            <a:srgbClr val="B3ADA3"/>
          </a:solidFill>
          <a:ln/>
        </p:spPr>
      </p:sp>
      <p:sp>
        <p:nvSpPr>
          <p:cNvPr id="11" name="Text 9"/>
          <p:cNvSpPr/>
          <p:nvPr/>
        </p:nvSpPr>
        <p:spPr>
          <a:xfrm>
            <a:off x="2413086" y="4780136"/>
            <a:ext cx="227188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BorrowingRequest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2451720" y="5184949"/>
            <a:ext cx="227188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state, reviewNote, startMileage, endMileage + builder() : Builder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80620" y="5136803"/>
            <a:ext cx="59055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nested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5079727" y="5322540"/>
            <a:ext cx="592336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◆────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824463" y="4689649"/>
            <a:ext cx="3282330" cy="1303883"/>
          </a:xfrm>
          <a:prstGeom prst="roundRect">
            <a:avLst>
              <a:gd name="adj" fmla="val 2922"/>
            </a:avLst>
          </a:prstGeom>
          <a:solidFill>
            <a:srgbClr val="FFFFFF"/>
          </a:solidFill>
          <a:ln w="14288">
            <a:solidFill>
              <a:srgbClr val="A99F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38751" y="4703936"/>
            <a:ext cx="3253755" cy="395288"/>
          </a:xfrm>
          <a:prstGeom prst="rect">
            <a:avLst/>
          </a:prstGeom>
          <a:solidFill>
            <a:srgbClr val="ECE7F8"/>
          </a:solidFill>
          <a:ln/>
        </p:spPr>
      </p:sp>
      <p:sp>
        <p:nvSpPr>
          <p:cNvPr id="17" name="Shape 15"/>
          <p:cNvSpPr/>
          <p:nvPr/>
        </p:nvSpPr>
        <p:spPr>
          <a:xfrm>
            <a:off x="5838751" y="5084936"/>
            <a:ext cx="3253755" cy="14288"/>
          </a:xfrm>
          <a:prstGeom prst="rect">
            <a:avLst/>
          </a:prstGeom>
          <a:solidFill>
            <a:srgbClr val="A99FD0"/>
          </a:solidFill>
          <a:ln/>
        </p:spPr>
      </p:sp>
      <p:sp>
        <p:nvSpPr>
          <p:cNvPr id="18" name="Text 16"/>
          <p:cNvSpPr/>
          <p:nvPr/>
        </p:nvSpPr>
        <p:spPr>
          <a:xfrm>
            <a:off x="5999494" y="4780136"/>
            <a:ext cx="293226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2E2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Builder</a:t>
            </a:r>
            <a:endParaRPr lang="en-US" sz="1575" dirty="0"/>
          </a:p>
        </p:txBody>
      </p:sp>
      <p:sp>
        <p:nvSpPr>
          <p:cNvPr id="19" name="Text 17"/>
          <p:cNvSpPr/>
          <p:nvPr/>
        </p:nvSpPr>
        <p:spPr>
          <a:xfrm>
            <a:off x="6048301" y="5184949"/>
            <a:ext cx="2932268" cy="746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reviewNote() / startMileage() + </a:t>
            </a:r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1E7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restoreState(name) </a:t>
            </a:r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Builder + build() : BorrowingRequest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19576" y="6126882"/>
            <a:ext cx="590848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 ▽</a:t>
            </a:r>
            <a:endParaRPr lang="en-US" sz="1125" dirty="0"/>
          </a:p>
        </p:txBody>
      </p:sp>
      <p:sp>
        <p:nvSpPr>
          <p:cNvPr id="21" name="Shape 19"/>
          <p:cNvSpPr/>
          <p:nvPr/>
        </p:nvSpPr>
        <p:spPr>
          <a:xfrm>
            <a:off x="5667375" y="6312619"/>
            <a:ext cx="19050" cy="133350"/>
          </a:xfrm>
          <a:prstGeom prst="rect">
            <a:avLst/>
          </a:prstGeom>
          <a:solidFill>
            <a:srgbClr val="B3ADA3"/>
          </a:solidFill>
          <a:ln/>
        </p:spPr>
      </p:sp>
      <p:sp>
        <p:nvSpPr>
          <p:cNvPr id="22" name="Shape 20"/>
          <p:cNvSpPr/>
          <p:nvPr/>
        </p:nvSpPr>
        <p:spPr>
          <a:xfrm>
            <a:off x="3655665" y="6445969"/>
            <a:ext cx="4042470" cy="409575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4288">
            <a:solidFill>
              <a:srgbClr val="B3ADA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18866" y="6545982"/>
            <a:ext cx="371606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BorrowingRepositoryAdapter.toDomain()</a:t>
            </a:r>
            <a:endParaRPr lang="en-US" sz="1275" dirty="0"/>
          </a:p>
        </p:txBody>
      </p:sp>
      <p:sp>
        <p:nvSpPr>
          <p:cNvPr id="24" name="Shape 22"/>
          <p:cNvSpPr/>
          <p:nvPr/>
        </p:nvSpPr>
        <p:spPr>
          <a:xfrm>
            <a:off x="2424113" y="7026994"/>
            <a:ext cx="3143250" cy="404813"/>
          </a:xfrm>
          <a:prstGeom prst="roundRect">
            <a:avLst>
              <a:gd name="adj" fmla="val 9412"/>
            </a:avLst>
          </a:prstGeom>
          <a:solidFill>
            <a:srgbClr val="FBEEEE"/>
          </a:solidFill>
          <a:ln w="9525">
            <a:solidFill>
              <a:srgbClr val="E3C4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6988" y="7112719"/>
            <a:ext cx="2951798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b="1" dirty="0">
                <a:solidFill>
                  <a:srgbClr val="9A3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舊 </a:t>
            </a:r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9A3B3B"/>
                </a:solidFill>
                <a:highlight>
                  <a:srgbClr val="FBEEEE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r.approve(null); r.startUse();</a:t>
            </a:r>
            <a:endParaRPr lang="en-US" sz="1125" dirty="0"/>
          </a:p>
        </p:txBody>
      </p:sp>
      <p:sp>
        <p:nvSpPr>
          <p:cNvPr id="26" name="Shape 24"/>
          <p:cNvSpPr/>
          <p:nvPr/>
        </p:nvSpPr>
        <p:spPr>
          <a:xfrm>
            <a:off x="5700713" y="7026994"/>
            <a:ext cx="3228975" cy="404813"/>
          </a:xfrm>
          <a:prstGeom prst="roundRect">
            <a:avLst>
              <a:gd name="adj" fmla="val 9412"/>
            </a:avLst>
          </a:prstGeom>
          <a:solidFill>
            <a:srgbClr val="EEF6F0"/>
          </a:solidFill>
          <a:ln w="9525">
            <a:solidFill>
              <a:srgbClr val="BCD8C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43588" y="7112719"/>
            <a:ext cx="3040094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b="1" dirty="0">
                <a:solidFill>
                  <a:srgbClr val="1E7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新 </a:t>
            </a:r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1E7A46"/>
                </a:solidFill>
                <a:highlight>
                  <a:srgbClr val="EEF6F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.restoreState("IN_USE").build()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10744200" y="3994845"/>
            <a:ext cx="704088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A8A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為何使用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744200" y="4447282"/>
            <a:ext cx="6592824" cy="14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toDomain() </a:t>
            </a:r>
            <a:pPr algn="l" indent="0" marL="0">
              <a:lnSpc>
                <a:spcPct val="160000"/>
              </a:lnSpc>
              <a:buNone/>
            </a:pPr>
            <a:r>
              <a:rPr lang="en-US" sz="23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 DB 還原時需重播 </a:t>
            </a:r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approve()/startUse() </a:t>
            </a:r>
            <a:pPr algn="l" indent="0" marL="0">
              <a:lnSpc>
                <a:spcPct val="160000"/>
              </a:lnSpc>
              <a:buNone/>
            </a:pPr>
            <a:r>
              <a:rPr lang="en-US" sz="23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等副作用方法，會觸發 Observer 且邏輯脆弱。</a:t>
            </a:r>
            <a:endParaRPr lang="en-US" sz="2325" dirty="0"/>
          </a:p>
        </p:txBody>
      </p:sp>
      <p:sp>
        <p:nvSpPr>
          <p:cNvPr id="30" name="Text 28"/>
          <p:cNvSpPr/>
          <p:nvPr/>
        </p:nvSpPr>
        <p:spPr>
          <a:xfrm>
            <a:off x="10744200" y="6188273"/>
            <a:ext cx="704088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A8A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設計特色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744200" y="6659761"/>
            <a:ext cx="2134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1033820" y="6659761"/>
            <a:ext cx="564647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restoreState()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直接設定目標 State 物件。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0744200" y="7193161"/>
            <a:ext cx="2134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1033820" y="7193161"/>
            <a:ext cx="556453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繞過 transition 副作用，還原安全且清晰。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10744200" y="7726561"/>
            <a:ext cx="2134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1033820" y="7726561"/>
            <a:ext cx="525503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以模式重構 Adapter，不再重播副作用。</a:t>
            </a:r>
            <a:endParaRPr lang="en-US" sz="2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64381"/>
            <a:ext cx="4960114" cy="3571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BEHAVIORAL · 設計模式 08 / 10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823645" y="762000"/>
            <a:ext cx="1104900" cy="323850"/>
          </a:xfrm>
          <a:prstGeom prst="roundRect">
            <a:avLst>
              <a:gd name="adj" fmla="val 50000"/>
            </a:avLst>
          </a:prstGeom>
          <a:solidFill>
            <a:srgbClr val="1E7A46"/>
          </a:solidFill>
          <a:ln/>
        </p:spPr>
      </p:sp>
      <p:sp>
        <p:nvSpPr>
          <p:cNvPr id="4" name="Text 2"/>
          <p:cNvSpPr/>
          <p:nvPr/>
        </p:nvSpPr>
        <p:spPr>
          <a:xfrm>
            <a:off x="5956995" y="790575"/>
            <a:ext cx="914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重構 #64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43000" y="1219200"/>
            <a:ext cx="17602200" cy="729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9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Chain of Responsibility — 多步驗證鏈</a:t>
            </a:r>
            <a:endParaRPr lang="en-US" sz="4950" dirty="0"/>
          </a:p>
        </p:txBody>
      </p:sp>
      <p:sp>
        <p:nvSpPr>
          <p:cNvPr id="6" name="Shape 4"/>
          <p:cNvSpPr/>
          <p:nvPr/>
        </p:nvSpPr>
        <p:spPr>
          <a:xfrm>
            <a:off x="1143000" y="2158305"/>
            <a:ext cx="16002000" cy="1905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2501205"/>
            <a:ext cx="9067800" cy="7119045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69804" y="4390504"/>
            <a:ext cx="4014192" cy="823913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 w="14288">
            <a:solidFill>
              <a:srgbClr val="B3AD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84091" y="4404792"/>
            <a:ext cx="3985617" cy="395288"/>
          </a:xfrm>
          <a:prstGeom prst="rect">
            <a:avLst/>
          </a:prstGeom>
          <a:solidFill>
            <a:srgbClr val="F1EFE9"/>
          </a:solidFill>
          <a:ln/>
        </p:spPr>
      </p:sp>
      <p:sp>
        <p:nvSpPr>
          <p:cNvPr id="10" name="Shape 8"/>
          <p:cNvSpPr/>
          <p:nvPr/>
        </p:nvSpPr>
        <p:spPr>
          <a:xfrm>
            <a:off x="3684091" y="4785792"/>
            <a:ext cx="3985617" cy="14288"/>
          </a:xfrm>
          <a:prstGeom prst="rect">
            <a:avLst/>
          </a:prstGeom>
          <a:solidFill>
            <a:srgbClr val="B3ADA3"/>
          </a:solidFill>
          <a:ln/>
        </p:spPr>
      </p:sp>
      <p:sp>
        <p:nvSpPr>
          <p:cNvPr id="11" name="Text 9"/>
          <p:cNvSpPr/>
          <p:nvPr/>
        </p:nvSpPr>
        <p:spPr>
          <a:xfrm>
            <a:off x="3833857" y="4480992"/>
            <a:ext cx="368608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BorrowingService.submitRequest()</a:t>
            </a:r>
            <a:endParaRPr lang="en-US" sz="1575" dirty="0"/>
          </a:p>
        </p:txBody>
      </p:sp>
      <p:sp>
        <p:nvSpPr>
          <p:cNvPr id="12" name="Text 10"/>
          <p:cNvSpPr/>
          <p:nvPr/>
        </p:nvSpPr>
        <p:spPr>
          <a:xfrm>
            <a:off x="3893641" y="4885804"/>
            <a:ext cx="368608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validators.forEach(v → v.validate(ctx))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76452" y="5309667"/>
            <a:ext cx="264098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◇ List&lt;BorrowingValidator&gt; ▽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5667375" y="5495404"/>
            <a:ext cx="19050" cy="133350"/>
          </a:xfrm>
          <a:prstGeom prst="rect">
            <a:avLst/>
          </a:prstGeom>
          <a:solidFill>
            <a:srgbClr val="B3ADA3"/>
          </a:solidFill>
          <a:ln/>
        </p:spPr>
      </p:sp>
      <p:sp>
        <p:nvSpPr>
          <p:cNvPr id="15" name="Shape 13"/>
          <p:cNvSpPr/>
          <p:nvPr/>
        </p:nvSpPr>
        <p:spPr>
          <a:xfrm>
            <a:off x="4553545" y="5628754"/>
            <a:ext cx="2246709" cy="987698"/>
          </a:xfrm>
          <a:prstGeom prst="roundRect">
            <a:avLst>
              <a:gd name="adj" fmla="val 3857"/>
            </a:avLst>
          </a:prstGeom>
          <a:solidFill>
            <a:srgbClr val="FFFFFF"/>
          </a:solidFill>
          <a:ln w="14288">
            <a:solidFill>
              <a:srgbClr val="A99F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67833" y="5643042"/>
            <a:ext cx="2218134" cy="559073"/>
          </a:xfrm>
          <a:prstGeom prst="rect">
            <a:avLst/>
          </a:prstGeom>
          <a:solidFill>
            <a:srgbClr val="ECE7F8"/>
          </a:solidFill>
          <a:ln/>
        </p:spPr>
      </p:sp>
      <p:sp>
        <p:nvSpPr>
          <p:cNvPr id="17" name="Shape 15"/>
          <p:cNvSpPr/>
          <p:nvPr/>
        </p:nvSpPr>
        <p:spPr>
          <a:xfrm>
            <a:off x="4567833" y="6187827"/>
            <a:ext cx="2218134" cy="14288"/>
          </a:xfrm>
          <a:prstGeom prst="rect">
            <a:avLst/>
          </a:prstGeom>
          <a:solidFill>
            <a:srgbClr val="A99FD0"/>
          </a:solidFill>
          <a:ln/>
        </p:spPr>
      </p:sp>
      <p:sp>
        <p:nvSpPr>
          <p:cNvPr id="18" name="Text 16"/>
          <p:cNvSpPr/>
          <p:nvPr/>
        </p:nvSpPr>
        <p:spPr>
          <a:xfrm>
            <a:off x="4708386" y="5700192"/>
            <a:ext cx="1937028" cy="220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A5A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«interface»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08386" y="5883027"/>
            <a:ext cx="193702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2E2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BorrowingValidator</a:t>
            </a:r>
            <a:endParaRPr lang="en-US" sz="1575" dirty="0"/>
          </a:p>
        </p:txBody>
      </p:sp>
      <p:sp>
        <p:nvSpPr>
          <p:cNvPr id="20" name="Text 18"/>
          <p:cNvSpPr/>
          <p:nvPr/>
        </p:nvSpPr>
        <p:spPr>
          <a:xfrm>
            <a:off x="4796433" y="6287839"/>
            <a:ext cx="183713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validate(ctx)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81650" y="6654552"/>
            <a:ext cx="2667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" dirty="0">
                <a:solidFill>
                  <a:srgbClr val="6A5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△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667375" y="6826002"/>
            <a:ext cx="19050" cy="133350"/>
          </a:xfrm>
          <a:prstGeom prst="rect">
            <a:avLst/>
          </a:prstGeom>
          <a:solidFill>
            <a:srgbClr val="A99FD0"/>
          </a:solidFill>
          <a:ln/>
        </p:spPr>
      </p:sp>
      <p:sp>
        <p:nvSpPr>
          <p:cNvPr id="23" name="Shape 21"/>
          <p:cNvSpPr/>
          <p:nvPr/>
        </p:nvSpPr>
        <p:spPr>
          <a:xfrm>
            <a:off x="2627858" y="6959352"/>
            <a:ext cx="6098009" cy="19050"/>
          </a:xfrm>
          <a:prstGeom prst="rect">
            <a:avLst/>
          </a:prstGeom>
          <a:solidFill>
            <a:srgbClr val="A99FD0"/>
          </a:solidFill>
          <a:ln/>
        </p:spPr>
      </p:sp>
      <p:sp>
        <p:nvSpPr>
          <p:cNvPr id="24" name="Shape 22"/>
          <p:cNvSpPr/>
          <p:nvPr/>
        </p:nvSpPr>
        <p:spPr>
          <a:xfrm>
            <a:off x="2627858" y="7130802"/>
            <a:ext cx="2032695" cy="600075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4288">
            <a:solidFill>
              <a:srgbClr val="B3ADA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37396" y="7230814"/>
            <a:ext cx="18136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@Order(1) </a:t>
            </a:r>
            <a:pPr algn="ctr" indent="0" marL="0">
              <a:buNone/>
            </a:pPr>
            <a:r>
              <a:rPr lang="en-US" sz="1200" dirty="0">
                <a:solidFill>
                  <a:srgbClr val="1C1917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PermissionValidator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93903" y="7292727"/>
            <a:ext cx="2667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117753" y="7130802"/>
            <a:ext cx="1758330" cy="600075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4288">
            <a:solidFill>
              <a:srgbClr val="B3ADA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27290" y="7230814"/>
            <a:ext cx="153925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@Order(2) </a:t>
            </a:r>
            <a:pPr algn="ctr" indent="0" marL="0">
              <a:buNone/>
            </a:pPr>
            <a:r>
              <a:rPr lang="en-US" sz="1200" dirty="0">
                <a:solidFill>
                  <a:srgbClr val="1C1917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VehicleExistence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009433" y="7292727"/>
            <a:ext cx="2667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333283" y="7130802"/>
            <a:ext cx="1392585" cy="600075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4288">
            <a:solidFill>
              <a:srgbClr val="B3ADA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42820" y="7230814"/>
            <a:ext cx="117351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@Order(3) </a:t>
            </a:r>
            <a:pPr algn="ctr" indent="0" marL="0">
              <a:buNone/>
            </a:pPr>
            <a:r>
              <a:rPr lang="en-US" sz="1200" dirty="0">
                <a:solidFill>
                  <a:srgbClr val="1C1917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TimeConflict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744200" y="3994845"/>
            <a:ext cx="704088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A8A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為何使用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744200" y="4447282"/>
            <a:ext cx="6592824" cy="14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23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「權限 → 車輛存在 → 時段衝突」三步驗證全寫在一個方法，新增規則需修改 Service（違反 OCP）。</a:t>
            </a:r>
            <a:endParaRPr lang="en-US" sz="2325" dirty="0"/>
          </a:p>
        </p:txBody>
      </p:sp>
      <p:sp>
        <p:nvSpPr>
          <p:cNvPr id="34" name="Text 32"/>
          <p:cNvSpPr/>
          <p:nvPr/>
        </p:nvSpPr>
        <p:spPr>
          <a:xfrm>
            <a:off x="10744200" y="6188273"/>
            <a:ext cx="704088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A8A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設計特色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0744200" y="6659761"/>
            <a:ext cx="2134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1033820" y="6659761"/>
            <a:ext cx="615102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各驗證步驟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@Component @Order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，獨立可排序。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10744200" y="7193161"/>
            <a:ext cx="2134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1033820" y="7193161"/>
            <a:ext cx="400960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只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逐一執行。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10744200" y="7726561"/>
            <a:ext cx="2134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1033820" y="7726561"/>
            <a:ext cx="473280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新增驗證器零修改 Service（OCP）。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64381"/>
            <a:ext cx="4960114" cy="3571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STRUCTURAL · 設計模式 09 / 10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823645" y="762000"/>
            <a:ext cx="1104900" cy="323850"/>
          </a:xfrm>
          <a:prstGeom prst="roundRect">
            <a:avLst>
              <a:gd name="adj" fmla="val 50000"/>
            </a:avLst>
          </a:prstGeom>
          <a:solidFill>
            <a:srgbClr val="1E7A46"/>
          </a:solidFill>
          <a:ln/>
        </p:spPr>
      </p:sp>
      <p:sp>
        <p:nvSpPr>
          <p:cNvPr id="4" name="Text 2"/>
          <p:cNvSpPr/>
          <p:nvPr/>
        </p:nvSpPr>
        <p:spPr>
          <a:xfrm>
            <a:off x="5956995" y="790575"/>
            <a:ext cx="914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重構 #65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43000" y="1219200"/>
            <a:ext cx="17602200" cy="729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9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Decorator — 可疊加的衝突緩衝</a:t>
            </a:r>
            <a:endParaRPr lang="en-US" sz="4950" dirty="0"/>
          </a:p>
        </p:txBody>
      </p:sp>
      <p:sp>
        <p:nvSpPr>
          <p:cNvPr id="6" name="Shape 4"/>
          <p:cNvSpPr/>
          <p:nvPr/>
        </p:nvSpPr>
        <p:spPr>
          <a:xfrm>
            <a:off x="1143000" y="2158305"/>
            <a:ext cx="16002000" cy="1905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2501205"/>
            <a:ext cx="9067800" cy="7119045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14763" y="4631010"/>
            <a:ext cx="3724275" cy="997223"/>
          </a:xfrm>
          <a:prstGeom prst="roundRect">
            <a:avLst>
              <a:gd name="adj" fmla="val 3821"/>
            </a:avLst>
          </a:prstGeom>
          <a:solidFill>
            <a:srgbClr val="FFFFFF"/>
          </a:solidFill>
          <a:ln w="14288">
            <a:solidFill>
              <a:srgbClr val="A99F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29050" y="4645298"/>
            <a:ext cx="3695700" cy="568598"/>
          </a:xfrm>
          <a:prstGeom prst="rect">
            <a:avLst/>
          </a:prstGeom>
          <a:solidFill>
            <a:srgbClr val="ECE7F8"/>
          </a:solidFill>
          <a:ln/>
        </p:spPr>
      </p:sp>
      <p:sp>
        <p:nvSpPr>
          <p:cNvPr id="10" name="Shape 8"/>
          <p:cNvSpPr/>
          <p:nvPr/>
        </p:nvSpPr>
        <p:spPr>
          <a:xfrm>
            <a:off x="3829050" y="5199608"/>
            <a:ext cx="3695700" cy="14288"/>
          </a:xfrm>
          <a:prstGeom prst="rect">
            <a:avLst/>
          </a:prstGeom>
          <a:solidFill>
            <a:srgbClr val="A99FD0"/>
          </a:solidFill>
          <a:ln/>
        </p:spPr>
      </p:sp>
      <p:sp>
        <p:nvSpPr>
          <p:cNvPr id="11" name="Text 9"/>
          <p:cNvSpPr/>
          <p:nvPr/>
        </p:nvSpPr>
        <p:spPr>
          <a:xfrm>
            <a:off x="3916680" y="4702448"/>
            <a:ext cx="3520440" cy="220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A5A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«interface»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916680" y="4885283"/>
            <a:ext cx="352044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E2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ConflictCheckStrategy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076700" y="5299621"/>
            <a:ext cx="331127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hasConflict(existing, start, end)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81650" y="5666333"/>
            <a:ext cx="2667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" dirty="0">
                <a:solidFill>
                  <a:srgbClr val="6A5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△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667375" y="5837783"/>
            <a:ext cx="19050" cy="152400"/>
          </a:xfrm>
          <a:prstGeom prst="rect">
            <a:avLst/>
          </a:prstGeom>
          <a:solidFill>
            <a:srgbClr val="A99FD0"/>
          </a:solidFill>
          <a:ln/>
        </p:spPr>
      </p:sp>
      <p:sp>
        <p:nvSpPr>
          <p:cNvPr id="16" name="Shape 14"/>
          <p:cNvSpPr/>
          <p:nvPr/>
        </p:nvSpPr>
        <p:spPr>
          <a:xfrm>
            <a:off x="2988394" y="5990183"/>
            <a:ext cx="5377011" cy="19050"/>
          </a:xfrm>
          <a:prstGeom prst="rect">
            <a:avLst/>
          </a:prstGeom>
          <a:solidFill>
            <a:srgbClr val="A99FD0"/>
          </a:solidFill>
          <a:ln/>
        </p:spPr>
      </p:sp>
      <p:sp>
        <p:nvSpPr>
          <p:cNvPr id="17" name="Shape 15"/>
          <p:cNvSpPr/>
          <p:nvPr/>
        </p:nvSpPr>
        <p:spPr>
          <a:xfrm>
            <a:off x="2988394" y="6294983"/>
            <a:ext cx="2100411" cy="785813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4288">
            <a:solidFill>
              <a:srgbClr val="B3ADA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02682" y="6309271"/>
            <a:ext cx="2071836" cy="371475"/>
          </a:xfrm>
          <a:prstGeom prst="rect">
            <a:avLst/>
          </a:prstGeom>
          <a:solidFill>
            <a:srgbClr val="F1EFE9"/>
          </a:solidFill>
          <a:ln/>
        </p:spPr>
      </p:sp>
      <p:sp>
        <p:nvSpPr>
          <p:cNvPr id="19" name="Shape 17"/>
          <p:cNvSpPr/>
          <p:nvPr/>
        </p:nvSpPr>
        <p:spPr>
          <a:xfrm>
            <a:off x="3002682" y="6666458"/>
            <a:ext cx="2071836" cy="14288"/>
          </a:xfrm>
          <a:prstGeom prst="rect">
            <a:avLst/>
          </a:prstGeom>
          <a:solidFill>
            <a:srgbClr val="B3ADA3"/>
          </a:solidFill>
          <a:ln/>
        </p:spPr>
      </p:sp>
      <p:sp>
        <p:nvSpPr>
          <p:cNvPr id="20" name="Text 18"/>
          <p:cNvSpPr/>
          <p:nvPr/>
        </p:nvSpPr>
        <p:spPr>
          <a:xfrm>
            <a:off x="3136032" y="6385471"/>
            <a:ext cx="180513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StrictOverlapStrategy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3174132" y="6766471"/>
            <a:ext cx="180513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575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ConcreteComponent</a:t>
            </a:r>
            <a:endParaRPr lang="en-US" sz="1125" dirty="0"/>
          </a:p>
        </p:txBody>
      </p:sp>
      <p:sp>
        <p:nvSpPr>
          <p:cNvPr id="22" name="Shape 20"/>
          <p:cNvSpPr/>
          <p:nvPr/>
        </p:nvSpPr>
        <p:spPr>
          <a:xfrm>
            <a:off x="5336456" y="6180683"/>
            <a:ext cx="3028950" cy="1014413"/>
          </a:xfrm>
          <a:prstGeom prst="roundRect">
            <a:avLst>
              <a:gd name="adj" fmla="val 3756"/>
            </a:avLst>
          </a:prstGeom>
          <a:solidFill>
            <a:srgbClr val="FFFFFF"/>
          </a:solidFill>
          <a:ln w="14288">
            <a:solidFill>
              <a:srgbClr val="6A5AC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50743" y="6194971"/>
            <a:ext cx="3000375" cy="371475"/>
          </a:xfrm>
          <a:prstGeom prst="rect">
            <a:avLst/>
          </a:prstGeom>
          <a:solidFill>
            <a:srgbClr val="ECE7F8"/>
          </a:solidFill>
          <a:ln/>
        </p:spPr>
      </p:sp>
      <p:sp>
        <p:nvSpPr>
          <p:cNvPr id="24" name="Shape 22"/>
          <p:cNvSpPr/>
          <p:nvPr/>
        </p:nvSpPr>
        <p:spPr>
          <a:xfrm>
            <a:off x="5350743" y="6552158"/>
            <a:ext cx="3000375" cy="14288"/>
          </a:xfrm>
          <a:prstGeom prst="rect">
            <a:avLst/>
          </a:prstGeom>
          <a:solidFill>
            <a:srgbClr val="6A5ACD"/>
          </a:solidFill>
          <a:ln/>
        </p:spPr>
      </p:sp>
      <p:sp>
        <p:nvSpPr>
          <p:cNvPr id="25" name="Text 23"/>
          <p:cNvSpPr/>
          <p:nvPr/>
        </p:nvSpPr>
        <p:spPr>
          <a:xfrm>
            <a:off x="5477188" y="6271171"/>
            <a:ext cx="2747486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2E2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BufferedOverlapDecorator</a:t>
            </a:r>
            <a:endParaRPr lang="en-US" sz="1425" dirty="0"/>
          </a:p>
        </p:txBody>
      </p:sp>
      <p:sp>
        <p:nvSpPr>
          <p:cNvPr id="26" name="Text 24"/>
          <p:cNvSpPr/>
          <p:nvPr/>
        </p:nvSpPr>
        <p:spPr>
          <a:xfrm>
            <a:off x="5522193" y="6652171"/>
            <a:ext cx="2747486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575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inner : ConflictCheckStrategy - buffer : Duration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4662041" y="7290346"/>
            <a:ext cx="223269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◇ inner ─ 委派、延伸時段 ▷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10744200" y="3994845"/>
            <a:ext cx="704088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A8A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為何使用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744200" y="4447282"/>
            <a:ext cx="6592824" cy="14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23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想加「前後保留 30 分鐘緩衝」，直接改 </a:t>
            </a:r>
            <a:pPr algn="l" indent="0" marL="0">
              <a:lnSpc>
                <a:spcPct val="160000"/>
              </a:lnSpc>
              <a:buNone/>
            </a:pPr>
            <a:r>
              <a:rPr lang="en-US" sz="1875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StrictOverlapStrategy </a:t>
            </a:r>
            <a:pPr algn="l" indent="0" marL="0">
              <a:lnSpc>
                <a:spcPct val="160000"/>
              </a:lnSpc>
              <a:buNone/>
            </a:pPr>
            <a:r>
              <a:rPr lang="en-US" sz="23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會讓邏輯複雜、難以切換啟用。</a:t>
            </a:r>
            <a:endParaRPr lang="en-US" sz="2325" dirty="0"/>
          </a:p>
        </p:txBody>
      </p:sp>
      <p:sp>
        <p:nvSpPr>
          <p:cNvPr id="30" name="Text 28"/>
          <p:cNvSpPr/>
          <p:nvPr/>
        </p:nvSpPr>
        <p:spPr>
          <a:xfrm>
            <a:off x="10744200" y="6188273"/>
            <a:ext cx="704088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A8A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設計特色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744200" y="6659761"/>
            <a:ext cx="2134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1033820" y="6659761"/>
            <a:ext cx="553907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Decorator 包裝任意 Strategy，介面相同。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0744200" y="7193161"/>
            <a:ext cx="2134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1033820" y="7193161"/>
            <a:ext cx="498729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委派前後延伸時段，不改被包裝策略。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10744200" y="7726561"/>
            <a:ext cx="2134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1033820" y="7726561"/>
            <a:ext cx="423151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@Bean @Primary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可選擇性啟用。</a:t>
            </a:r>
            <a:endParaRPr lang="en-US" sz="2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64381"/>
            <a:ext cx="4960114" cy="3571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BEHAVIORAL · 設計模式 10 / 10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823645" y="762000"/>
            <a:ext cx="1104900" cy="323850"/>
          </a:xfrm>
          <a:prstGeom prst="roundRect">
            <a:avLst>
              <a:gd name="adj" fmla="val 50000"/>
            </a:avLst>
          </a:prstGeom>
          <a:solidFill>
            <a:srgbClr val="1E7A46"/>
          </a:solidFill>
          <a:ln/>
        </p:spPr>
      </p:sp>
      <p:sp>
        <p:nvSpPr>
          <p:cNvPr id="4" name="Text 2"/>
          <p:cNvSpPr/>
          <p:nvPr/>
        </p:nvSpPr>
        <p:spPr>
          <a:xfrm>
            <a:off x="5956995" y="790575"/>
            <a:ext cx="9144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重構 #66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43000" y="1219200"/>
            <a:ext cx="17602200" cy="729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9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Command — 借車狀態操作稽核</a:t>
            </a:r>
            <a:endParaRPr lang="en-US" sz="4950" dirty="0"/>
          </a:p>
        </p:txBody>
      </p:sp>
      <p:sp>
        <p:nvSpPr>
          <p:cNvPr id="6" name="Shape 4"/>
          <p:cNvSpPr/>
          <p:nvPr/>
        </p:nvSpPr>
        <p:spPr>
          <a:xfrm>
            <a:off x="1143000" y="2158305"/>
            <a:ext cx="16002000" cy="1905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2501205"/>
            <a:ext cx="9067800" cy="7119045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74218" y="4502423"/>
            <a:ext cx="2126531" cy="8001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4288">
            <a:solidFill>
              <a:srgbClr val="B3AD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88506" y="4516710"/>
            <a:ext cx="2097956" cy="385763"/>
          </a:xfrm>
          <a:prstGeom prst="rect">
            <a:avLst/>
          </a:prstGeom>
          <a:solidFill>
            <a:srgbClr val="F1EFE9"/>
          </a:solidFill>
          <a:ln/>
        </p:spPr>
      </p:sp>
      <p:sp>
        <p:nvSpPr>
          <p:cNvPr id="10" name="Shape 8"/>
          <p:cNvSpPr/>
          <p:nvPr/>
        </p:nvSpPr>
        <p:spPr>
          <a:xfrm>
            <a:off x="2688506" y="4888185"/>
            <a:ext cx="2097956" cy="14288"/>
          </a:xfrm>
          <a:prstGeom prst="rect">
            <a:avLst/>
          </a:prstGeom>
          <a:solidFill>
            <a:srgbClr val="B3ADA3"/>
          </a:solidFill>
          <a:ln/>
        </p:spPr>
      </p:sp>
      <p:sp>
        <p:nvSpPr>
          <p:cNvPr id="11" name="Text 9"/>
          <p:cNvSpPr/>
          <p:nvPr/>
        </p:nvSpPr>
        <p:spPr>
          <a:xfrm>
            <a:off x="2821856" y="4592910"/>
            <a:ext cx="183125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BorrowingController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859956" y="4988198"/>
            <a:ext cx="183125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575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Invoker 端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5010299" y="4790554"/>
            <a:ext cx="592336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────▷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735985" y="4502423"/>
            <a:ext cx="2943523" cy="8001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4288">
            <a:solidFill>
              <a:srgbClr val="B3AD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50272" y="4516710"/>
            <a:ext cx="2914948" cy="385763"/>
          </a:xfrm>
          <a:prstGeom prst="rect">
            <a:avLst/>
          </a:prstGeom>
          <a:solidFill>
            <a:srgbClr val="F1EFE9"/>
          </a:solidFill>
          <a:ln/>
        </p:spPr>
      </p:sp>
      <p:sp>
        <p:nvSpPr>
          <p:cNvPr id="16" name="Shape 14"/>
          <p:cNvSpPr/>
          <p:nvPr/>
        </p:nvSpPr>
        <p:spPr>
          <a:xfrm>
            <a:off x="5750272" y="4888185"/>
            <a:ext cx="2914948" cy="14288"/>
          </a:xfrm>
          <a:prstGeom prst="rect">
            <a:avLst/>
          </a:prstGeom>
          <a:solidFill>
            <a:srgbClr val="B3ADA3"/>
          </a:solidFill>
          <a:ln/>
        </p:spPr>
      </p:sp>
      <p:sp>
        <p:nvSpPr>
          <p:cNvPr id="17" name="Text 15"/>
          <p:cNvSpPr/>
          <p:nvPr/>
        </p:nvSpPr>
        <p:spPr>
          <a:xfrm>
            <a:off x="5877998" y="4592910"/>
            <a:ext cx="265949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BorrowingCommandBus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921722" y="4988198"/>
            <a:ext cx="265949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25" dirty="0">
                <a:solidFill>
                  <a:srgbClr val="575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dispatch(cmd): log → execute()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5248126" y="5416823"/>
            <a:ext cx="933748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dispatch ▽</a:t>
            </a:r>
            <a:endParaRPr lang="en-US" sz="1125" dirty="0"/>
          </a:p>
        </p:txBody>
      </p:sp>
      <p:sp>
        <p:nvSpPr>
          <p:cNvPr id="20" name="Shape 18"/>
          <p:cNvSpPr/>
          <p:nvPr/>
        </p:nvSpPr>
        <p:spPr>
          <a:xfrm>
            <a:off x="5667375" y="5602560"/>
            <a:ext cx="19050" cy="133350"/>
          </a:xfrm>
          <a:prstGeom prst="rect">
            <a:avLst/>
          </a:prstGeom>
          <a:solidFill>
            <a:srgbClr val="B3ADA3"/>
          </a:solidFill>
          <a:ln/>
        </p:spPr>
      </p:sp>
      <p:sp>
        <p:nvSpPr>
          <p:cNvPr id="21" name="Shape 19"/>
          <p:cNvSpPr/>
          <p:nvPr/>
        </p:nvSpPr>
        <p:spPr>
          <a:xfrm>
            <a:off x="3418508" y="5735910"/>
            <a:ext cx="4516785" cy="987698"/>
          </a:xfrm>
          <a:prstGeom prst="roundRect">
            <a:avLst>
              <a:gd name="adj" fmla="val 3857"/>
            </a:avLst>
          </a:prstGeom>
          <a:solidFill>
            <a:srgbClr val="FFFFFF"/>
          </a:solidFill>
          <a:ln w="14288">
            <a:solidFill>
              <a:srgbClr val="A99F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32795" y="5750198"/>
            <a:ext cx="4488210" cy="559073"/>
          </a:xfrm>
          <a:prstGeom prst="rect">
            <a:avLst/>
          </a:prstGeom>
          <a:solidFill>
            <a:srgbClr val="ECE7F8"/>
          </a:solidFill>
          <a:ln/>
        </p:spPr>
      </p:sp>
      <p:sp>
        <p:nvSpPr>
          <p:cNvPr id="23" name="Shape 21"/>
          <p:cNvSpPr/>
          <p:nvPr/>
        </p:nvSpPr>
        <p:spPr>
          <a:xfrm>
            <a:off x="3432795" y="6294983"/>
            <a:ext cx="4488210" cy="14288"/>
          </a:xfrm>
          <a:prstGeom prst="rect">
            <a:avLst/>
          </a:prstGeom>
          <a:solidFill>
            <a:srgbClr val="A99FD0"/>
          </a:solidFill>
          <a:ln/>
        </p:spPr>
      </p:sp>
      <p:sp>
        <p:nvSpPr>
          <p:cNvPr id="24" name="Text 22"/>
          <p:cNvSpPr/>
          <p:nvPr/>
        </p:nvSpPr>
        <p:spPr>
          <a:xfrm>
            <a:off x="3480800" y="5807348"/>
            <a:ext cx="4392201" cy="220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A5A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«interface»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80800" y="5990183"/>
            <a:ext cx="439220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b="1" dirty="0">
                <a:solidFill>
                  <a:srgbClr val="2E26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BorrowingCommand</a:t>
            </a:r>
            <a:endParaRPr lang="en-US" sz="1575" dirty="0"/>
          </a:p>
        </p:txBody>
      </p:sp>
      <p:sp>
        <p:nvSpPr>
          <p:cNvPr id="26" name="Text 24"/>
          <p:cNvSpPr/>
          <p:nvPr/>
        </p:nvSpPr>
        <p:spPr>
          <a:xfrm>
            <a:off x="3680445" y="6394996"/>
            <a:ext cx="412755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execute() : BorrowingRequest + describe()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81650" y="6761708"/>
            <a:ext cx="2667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00" dirty="0">
                <a:solidFill>
                  <a:srgbClr val="6A5A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△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667375" y="6933158"/>
            <a:ext cx="19050" cy="133350"/>
          </a:xfrm>
          <a:prstGeom prst="rect">
            <a:avLst/>
          </a:prstGeom>
          <a:solidFill>
            <a:srgbClr val="A99FD0"/>
          </a:solidFill>
          <a:ln/>
        </p:spPr>
      </p:sp>
      <p:sp>
        <p:nvSpPr>
          <p:cNvPr id="29" name="Shape 27"/>
          <p:cNvSpPr/>
          <p:nvPr/>
        </p:nvSpPr>
        <p:spPr>
          <a:xfrm>
            <a:off x="2038350" y="7066508"/>
            <a:ext cx="7277100" cy="19050"/>
          </a:xfrm>
          <a:prstGeom prst="rect">
            <a:avLst/>
          </a:prstGeom>
          <a:solidFill>
            <a:srgbClr val="A99FD0"/>
          </a:solidFill>
          <a:ln/>
        </p:spPr>
      </p:sp>
      <p:sp>
        <p:nvSpPr>
          <p:cNvPr id="30" name="Shape 28"/>
          <p:cNvSpPr/>
          <p:nvPr/>
        </p:nvSpPr>
        <p:spPr>
          <a:xfrm>
            <a:off x="2038350" y="7237958"/>
            <a:ext cx="1733550" cy="381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4288">
            <a:solidFill>
              <a:srgbClr val="B3ADA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71688" y="7328446"/>
            <a:ext cx="166687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ApproveCommand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886200" y="7237958"/>
            <a:ext cx="1733550" cy="381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4288">
            <a:solidFill>
              <a:srgbClr val="B3ADA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19537" y="7328446"/>
            <a:ext cx="166687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RejectCommand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734050" y="7237958"/>
            <a:ext cx="1733550" cy="381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4288">
            <a:solidFill>
              <a:srgbClr val="B3ADA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7387" y="7328446"/>
            <a:ext cx="166687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StartUseCommand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581900" y="7237958"/>
            <a:ext cx="1733550" cy="381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4288">
            <a:solidFill>
              <a:srgbClr val="B3ADA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15238" y="7328446"/>
            <a:ext cx="166687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CompleteCommand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744200" y="4031010"/>
            <a:ext cx="704088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A8A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為何使用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0744200" y="4483447"/>
            <a:ext cx="6592824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23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直接呼叫 Service，稽核、非同步等橫切關注點分散在各 endpoint，無法統一管理。</a:t>
            </a:r>
            <a:endParaRPr lang="en-US" sz="2325" dirty="0"/>
          </a:p>
        </p:txBody>
      </p:sp>
      <p:sp>
        <p:nvSpPr>
          <p:cNvPr id="40" name="Text 38"/>
          <p:cNvSpPr/>
          <p:nvPr/>
        </p:nvSpPr>
        <p:spPr>
          <a:xfrm>
            <a:off x="10744200" y="5752058"/>
            <a:ext cx="704088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A8A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設計特色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0744200" y="6223546"/>
            <a:ext cx="2134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1033820" y="6223546"/>
            <a:ext cx="502060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每個狀態操作封裝為一個 Command。</a:t>
            </a:r>
            <a:endParaRPr lang="en-US" sz="2100" dirty="0"/>
          </a:p>
        </p:txBody>
      </p:sp>
      <p:sp>
        <p:nvSpPr>
          <p:cNvPr id="43" name="Text 41"/>
          <p:cNvSpPr/>
          <p:nvPr/>
        </p:nvSpPr>
        <p:spPr>
          <a:xfrm>
            <a:off x="10744200" y="6756946"/>
            <a:ext cx="2134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1033820" y="6756946"/>
            <a:ext cx="544977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CommandBus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統一 dispatch + 記稽核日誌。</a:t>
            </a:r>
            <a:endParaRPr lang="en-US" sz="2100" dirty="0"/>
          </a:p>
        </p:txBody>
      </p:sp>
      <p:sp>
        <p:nvSpPr>
          <p:cNvPr id="45" name="Text 43"/>
          <p:cNvSpPr/>
          <p:nvPr/>
        </p:nvSpPr>
        <p:spPr>
          <a:xfrm>
            <a:off x="10744200" y="7290346"/>
            <a:ext cx="21342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1033820" y="7290346"/>
            <a:ext cx="629451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未來加佇列 / 重試 / 非同步不改 Command（OCP）。</a:t>
            </a:r>
            <a:endParaRPr 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94297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225" kern="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— 工作流程 · SEQUENCE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047750" y="1209675"/>
            <a:ext cx="9429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5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借車工作流程（依生命週期拆分）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2094052" y="1062038"/>
            <a:ext cx="5146198" cy="814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四個 REST 端點 · 各自聚焦涉及的設計模式 </a:t>
            </a:r>
            <a:pPr algn="r" indent="0" marL="0">
              <a:lnSpc>
                <a:spcPct val="150000"/>
              </a:lnSpc>
              <a:buNone/>
            </a:pPr>
            <a:r>
              <a:rPr lang="en-US" sz="1725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PENDING → APPROVED → IN_USE → RETURNED</a:t>
            </a:r>
            <a:endParaRPr lang="en-US" sz="2025" dirty="0"/>
          </a:p>
        </p:txBody>
      </p:sp>
      <p:sp>
        <p:nvSpPr>
          <p:cNvPr id="5" name="Shape 3"/>
          <p:cNvSpPr/>
          <p:nvPr/>
        </p:nvSpPr>
        <p:spPr>
          <a:xfrm>
            <a:off x="1047750" y="2047875"/>
            <a:ext cx="16192500" cy="1905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6" name="Shape 4"/>
          <p:cNvSpPr/>
          <p:nvPr/>
        </p:nvSpPr>
        <p:spPr>
          <a:xfrm>
            <a:off x="1047750" y="2352675"/>
            <a:ext cx="3890962" cy="73628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047750" y="9705975"/>
            <a:ext cx="3890962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8" name="Shape 6"/>
          <p:cNvSpPr/>
          <p:nvPr/>
        </p:nvSpPr>
        <p:spPr>
          <a:xfrm>
            <a:off x="1047750" y="2352675"/>
            <a:ext cx="3890962" cy="38100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9" name="Shape 7"/>
          <p:cNvSpPr/>
          <p:nvPr/>
        </p:nvSpPr>
        <p:spPr>
          <a:xfrm>
            <a:off x="1047750" y="2352675"/>
            <a:ext cx="9525" cy="73628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10" name="Shape 8"/>
          <p:cNvSpPr/>
          <p:nvPr/>
        </p:nvSpPr>
        <p:spPr>
          <a:xfrm>
            <a:off x="4929188" y="2352675"/>
            <a:ext cx="9525" cy="73628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11" name="Text 9"/>
          <p:cNvSpPr/>
          <p:nvPr/>
        </p:nvSpPr>
        <p:spPr>
          <a:xfrm>
            <a:off x="1266825" y="2619375"/>
            <a:ext cx="153765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 送出申請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3793406" y="2724150"/>
            <a:ext cx="1002432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PENDING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266825" y="3067050"/>
            <a:ext cx="379809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575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/api/borrowings</a:t>
            </a:r>
            <a:endParaRPr lang="en-US" sz="1275" dirty="0"/>
          </a:p>
        </p:txBody>
      </p:sp>
      <p:sp>
        <p:nvSpPr>
          <p:cNvPr id="14" name="Shape 12"/>
          <p:cNvSpPr/>
          <p:nvPr/>
        </p:nvSpPr>
        <p:spPr>
          <a:xfrm>
            <a:off x="1266825" y="3400425"/>
            <a:ext cx="638175" cy="261937"/>
          </a:xfrm>
          <a:prstGeom prst="roundRect">
            <a:avLst>
              <a:gd name="adj" fmla="val 50000"/>
            </a:avLst>
          </a:prstGeom>
          <a:solidFill>
            <a:srgbClr val="F0EDFA"/>
          </a:solidFill>
          <a:ln w="9525">
            <a:solidFill>
              <a:srgbClr val="D6CF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3438525"/>
            <a:ext cx="5048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B31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</a:t>
            </a:r>
            <a:endParaRPr lang="en-US" sz="1125" dirty="0"/>
          </a:p>
        </p:txBody>
      </p:sp>
      <p:sp>
        <p:nvSpPr>
          <p:cNvPr id="16" name="Shape 14"/>
          <p:cNvSpPr/>
          <p:nvPr/>
        </p:nvSpPr>
        <p:spPr>
          <a:xfrm>
            <a:off x="1971675" y="3400425"/>
            <a:ext cx="638175" cy="261937"/>
          </a:xfrm>
          <a:prstGeom prst="roundRect">
            <a:avLst>
              <a:gd name="adj" fmla="val 50000"/>
            </a:avLst>
          </a:prstGeom>
          <a:solidFill>
            <a:srgbClr val="F0EDFA"/>
          </a:solidFill>
          <a:ln w="9525">
            <a:solidFill>
              <a:srgbClr val="D6CF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76450" y="3438525"/>
            <a:ext cx="5048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B31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</a:t>
            </a:r>
            <a:endParaRPr lang="en-US" sz="1125" dirty="0"/>
          </a:p>
        </p:txBody>
      </p:sp>
      <p:sp>
        <p:nvSpPr>
          <p:cNvPr id="18" name="Shape 16"/>
          <p:cNvSpPr/>
          <p:nvPr/>
        </p:nvSpPr>
        <p:spPr>
          <a:xfrm>
            <a:off x="1266825" y="3805237"/>
            <a:ext cx="3452813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19" name="Text 17"/>
          <p:cNvSpPr/>
          <p:nvPr/>
        </p:nvSpPr>
        <p:spPr>
          <a:xfrm>
            <a:off x="1266825" y="3957638"/>
            <a:ext cx="3798094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A8A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員工 · Controller · Service · 責任鏈 · Repo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266825" y="4268093"/>
            <a:ext cx="3798094" cy="259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44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員工 </a:t>
            </a:r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</a:t>
            </a:r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44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66825" y="4593803"/>
            <a:ext cx="3556397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44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Controller </a:t>
            </a:r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</a:t>
            </a:r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44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 : submitRequest()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66825" y="5140449"/>
            <a:ext cx="3798094" cy="259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44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 </a:t>
            </a:r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</a:t>
            </a:r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44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責任鏈 : forEach validate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38275" y="5466159"/>
            <a:ext cx="3626644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權限 → 2 車輛存在 → 3 時段衝突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1266825" y="5778103"/>
            <a:ext cx="3798094" cy="259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44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 </a:t>
            </a:r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</a:t>
            </a:r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44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 : save · PendingState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66825" y="6103813"/>
            <a:ext cx="3798094" cy="259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E7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◂ 201 Created · PENDING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148263" y="2352675"/>
            <a:ext cx="3890962" cy="73628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5148263" y="9705975"/>
            <a:ext cx="3890962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28" name="Shape 26"/>
          <p:cNvSpPr/>
          <p:nvPr/>
        </p:nvSpPr>
        <p:spPr>
          <a:xfrm>
            <a:off x="5148263" y="2352675"/>
            <a:ext cx="3890962" cy="38100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29" name="Shape 27"/>
          <p:cNvSpPr/>
          <p:nvPr/>
        </p:nvSpPr>
        <p:spPr>
          <a:xfrm>
            <a:off x="5148263" y="2352675"/>
            <a:ext cx="9525" cy="73628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30" name="Shape 28"/>
          <p:cNvSpPr/>
          <p:nvPr/>
        </p:nvSpPr>
        <p:spPr>
          <a:xfrm>
            <a:off x="9029700" y="2352675"/>
            <a:ext cx="9525" cy="73628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31" name="Text 29"/>
          <p:cNvSpPr/>
          <p:nvPr/>
        </p:nvSpPr>
        <p:spPr>
          <a:xfrm>
            <a:off x="5367338" y="2619375"/>
            <a:ext cx="94066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 審核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7791078" y="2724150"/>
            <a:ext cx="1105272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APPROVED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367338" y="3067050"/>
            <a:ext cx="379809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575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/{id}/approve</a:t>
            </a:r>
            <a:endParaRPr lang="en-US" sz="1275" dirty="0"/>
          </a:p>
        </p:txBody>
      </p:sp>
      <p:sp>
        <p:nvSpPr>
          <p:cNvPr id="34" name="Shape 32"/>
          <p:cNvSpPr/>
          <p:nvPr/>
        </p:nvSpPr>
        <p:spPr>
          <a:xfrm>
            <a:off x="5367338" y="3400425"/>
            <a:ext cx="809625" cy="261937"/>
          </a:xfrm>
          <a:prstGeom prst="roundRect">
            <a:avLst>
              <a:gd name="adj" fmla="val 50000"/>
            </a:avLst>
          </a:prstGeom>
          <a:solidFill>
            <a:srgbClr val="F0EDFA"/>
          </a:solidFill>
          <a:ln w="9525">
            <a:solidFill>
              <a:srgbClr val="D6CF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72113" y="3438525"/>
            <a:ext cx="6762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B31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</a:t>
            </a:r>
            <a:endParaRPr lang="en-US" sz="1125" dirty="0"/>
          </a:p>
        </p:txBody>
      </p:sp>
      <p:sp>
        <p:nvSpPr>
          <p:cNvPr id="36" name="Shape 34"/>
          <p:cNvSpPr/>
          <p:nvPr/>
        </p:nvSpPr>
        <p:spPr>
          <a:xfrm>
            <a:off x="6243638" y="3400425"/>
            <a:ext cx="638175" cy="261937"/>
          </a:xfrm>
          <a:prstGeom prst="roundRect">
            <a:avLst>
              <a:gd name="adj" fmla="val 50000"/>
            </a:avLst>
          </a:prstGeom>
          <a:solidFill>
            <a:srgbClr val="F0EDFA"/>
          </a:solidFill>
          <a:ln w="9525">
            <a:solidFill>
              <a:srgbClr val="D6CF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48413" y="3438525"/>
            <a:ext cx="5048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B31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</a:t>
            </a:r>
            <a:endParaRPr lang="en-US" sz="1125" dirty="0"/>
          </a:p>
        </p:txBody>
      </p:sp>
      <p:sp>
        <p:nvSpPr>
          <p:cNvPr id="38" name="Shape 36"/>
          <p:cNvSpPr/>
          <p:nvPr/>
        </p:nvSpPr>
        <p:spPr>
          <a:xfrm>
            <a:off x="6948488" y="3400425"/>
            <a:ext cx="895350" cy="261937"/>
          </a:xfrm>
          <a:prstGeom prst="roundRect">
            <a:avLst>
              <a:gd name="adj" fmla="val 50000"/>
            </a:avLst>
          </a:prstGeom>
          <a:solidFill>
            <a:srgbClr val="F0EDFA"/>
          </a:solidFill>
          <a:ln w="9525">
            <a:solidFill>
              <a:srgbClr val="D6CF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53262" y="3438525"/>
            <a:ext cx="76200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B31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Observer</a:t>
            </a:r>
            <a:endParaRPr lang="en-US" sz="1125" dirty="0"/>
          </a:p>
        </p:txBody>
      </p:sp>
      <p:sp>
        <p:nvSpPr>
          <p:cNvPr id="40" name="Shape 38"/>
          <p:cNvSpPr/>
          <p:nvPr/>
        </p:nvSpPr>
        <p:spPr>
          <a:xfrm>
            <a:off x="5367338" y="3805237"/>
            <a:ext cx="3452813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41" name="Text 39"/>
          <p:cNvSpPr/>
          <p:nvPr/>
        </p:nvSpPr>
        <p:spPr>
          <a:xfrm>
            <a:off x="5367338" y="3957638"/>
            <a:ext cx="3556397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A8A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審核者 · Controller · CommandBus · Service · State · Observer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367338" y="4454723"/>
            <a:ext cx="3556397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44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審核者 </a:t>
            </a:r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</a:t>
            </a:r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44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CommandBus : dispatch(ApproveCommand)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67338" y="5001369"/>
            <a:ext cx="3798094" cy="259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44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CommandBus : [AUDIT] → execute()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538788" y="5327079"/>
            <a:ext cx="3626644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7871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 主管：同部門範圍檢查</a:t>
            </a:r>
            <a:endParaRPr lang="en-US" sz="1125" dirty="0"/>
          </a:p>
        </p:txBody>
      </p:sp>
      <p:sp>
        <p:nvSpPr>
          <p:cNvPr id="45" name="Text 43"/>
          <p:cNvSpPr/>
          <p:nvPr/>
        </p:nvSpPr>
        <p:spPr>
          <a:xfrm>
            <a:off x="5367338" y="5639023"/>
            <a:ext cx="3556397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44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 </a:t>
            </a:r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</a:t>
            </a:r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44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: approve() → Approved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367338" y="6185669"/>
            <a:ext cx="3556397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44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 </a:t>
            </a:r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</a:t>
            </a:r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44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Observer : notifyApproved · Email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367338" y="6732315"/>
            <a:ext cx="3798094" cy="259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E7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◂ 200 OK · APPROVED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367338" y="7058025"/>
            <a:ext cx="3798094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9A95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拒絕對稱 → RejectedState</a:t>
            </a:r>
            <a:endParaRPr lang="en-US" sz="1125" dirty="0"/>
          </a:p>
        </p:txBody>
      </p:sp>
      <p:sp>
        <p:nvSpPr>
          <p:cNvPr id="49" name="Shape 47"/>
          <p:cNvSpPr/>
          <p:nvPr/>
        </p:nvSpPr>
        <p:spPr>
          <a:xfrm>
            <a:off x="9248775" y="2352675"/>
            <a:ext cx="3890962" cy="73628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Shape 48"/>
          <p:cNvSpPr/>
          <p:nvPr/>
        </p:nvSpPr>
        <p:spPr>
          <a:xfrm>
            <a:off x="9248775" y="9705975"/>
            <a:ext cx="3890962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51" name="Shape 49"/>
          <p:cNvSpPr/>
          <p:nvPr/>
        </p:nvSpPr>
        <p:spPr>
          <a:xfrm>
            <a:off x="9248775" y="2352675"/>
            <a:ext cx="3890962" cy="38100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52" name="Shape 50"/>
          <p:cNvSpPr/>
          <p:nvPr/>
        </p:nvSpPr>
        <p:spPr>
          <a:xfrm>
            <a:off x="9248775" y="2352675"/>
            <a:ext cx="9525" cy="73628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53" name="Shape 51"/>
          <p:cNvSpPr/>
          <p:nvPr/>
        </p:nvSpPr>
        <p:spPr>
          <a:xfrm>
            <a:off x="13130213" y="2352675"/>
            <a:ext cx="9525" cy="73628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54" name="Text 52"/>
          <p:cNvSpPr/>
          <p:nvPr/>
        </p:nvSpPr>
        <p:spPr>
          <a:xfrm>
            <a:off x="9467850" y="2619375"/>
            <a:ext cx="94066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 出車</a:t>
            </a:r>
            <a:endParaRPr lang="en-US" sz="2100" dirty="0"/>
          </a:p>
        </p:txBody>
      </p:sp>
      <p:sp>
        <p:nvSpPr>
          <p:cNvPr id="55" name="Text 53"/>
          <p:cNvSpPr/>
          <p:nvPr/>
        </p:nvSpPr>
        <p:spPr>
          <a:xfrm>
            <a:off x="12097345" y="2724150"/>
            <a:ext cx="899517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IN_USE</a:t>
            </a:r>
            <a:endParaRPr lang="en-US" sz="1350" dirty="0"/>
          </a:p>
        </p:txBody>
      </p:sp>
      <p:sp>
        <p:nvSpPr>
          <p:cNvPr id="56" name="Text 54"/>
          <p:cNvSpPr/>
          <p:nvPr/>
        </p:nvSpPr>
        <p:spPr>
          <a:xfrm>
            <a:off x="9467850" y="3067050"/>
            <a:ext cx="379809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575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/{id}/start</a:t>
            </a:r>
            <a:endParaRPr lang="en-US" sz="1275" dirty="0"/>
          </a:p>
        </p:txBody>
      </p:sp>
      <p:sp>
        <p:nvSpPr>
          <p:cNvPr id="57" name="Shape 55"/>
          <p:cNvSpPr/>
          <p:nvPr/>
        </p:nvSpPr>
        <p:spPr>
          <a:xfrm>
            <a:off x="9467850" y="3400425"/>
            <a:ext cx="809625" cy="261937"/>
          </a:xfrm>
          <a:prstGeom prst="roundRect">
            <a:avLst>
              <a:gd name="adj" fmla="val 50000"/>
            </a:avLst>
          </a:prstGeom>
          <a:solidFill>
            <a:srgbClr val="F0EDFA"/>
          </a:solidFill>
          <a:ln w="9525">
            <a:solidFill>
              <a:srgbClr val="D6CF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572625" y="3438525"/>
            <a:ext cx="6762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B31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</a:t>
            </a:r>
            <a:endParaRPr lang="en-US" sz="1125" dirty="0"/>
          </a:p>
        </p:txBody>
      </p:sp>
      <p:sp>
        <p:nvSpPr>
          <p:cNvPr id="59" name="Shape 57"/>
          <p:cNvSpPr/>
          <p:nvPr/>
        </p:nvSpPr>
        <p:spPr>
          <a:xfrm>
            <a:off x="10344150" y="3400425"/>
            <a:ext cx="638175" cy="261937"/>
          </a:xfrm>
          <a:prstGeom prst="roundRect">
            <a:avLst>
              <a:gd name="adj" fmla="val 50000"/>
            </a:avLst>
          </a:prstGeom>
          <a:solidFill>
            <a:srgbClr val="F0EDFA"/>
          </a:solidFill>
          <a:ln w="9525">
            <a:solidFill>
              <a:srgbClr val="D6CF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448925" y="3438525"/>
            <a:ext cx="5048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B31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</a:t>
            </a:r>
            <a:endParaRPr lang="en-US" sz="1125" dirty="0"/>
          </a:p>
        </p:txBody>
      </p:sp>
      <p:sp>
        <p:nvSpPr>
          <p:cNvPr id="61" name="Shape 59"/>
          <p:cNvSpPr/>
          <p:nvPr/>
        </p:nvSpPr>
        <p:spPr>
          <a:xfrm>
            <a:off x="11049000" y="3400425"/>
            <a:ext cx="895350" cy="261937"/>
          </a:xfrm>
          <a:prstGeom prst="roundRect">
            <a:avLst>
              <a:gd name="adj" fmla="val 50000"/>
            </a:avLst>
          </a:prstGeom>
          <a:solidFill>
            <a:srgbClr val="F0EDFA"/>
          </a:solidFill>
          <a:ln w="9525">
            <a:solidFill>
              <a:srgbClr val="D6CF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1153775" y="3438525"/>
            <a:ext cx="76200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B31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Observer</a:t>
            </a:r>
            <a:endParaRPr lang="en-US" sz="1125" dirty="0"/>
          </a:p>
        </p:txBody>
      </p:sp>
      <p:sp>
        <p:nvSpPr>
          <p:cNvPr id="63" name="Shape 61"/>
          <p:cNvSpPr/>
          <p:nvPr/>
        </p:nvSpPr>
        <p:spPr>
          <a:xfrm>
            <a:off x="9467850" y="3805237"/>
            <a:ext cx="3452813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64" name="Text 62"/>
          <p:cNvSpPr/>
          <p:nvPr/>
        </p:nvSpPr>
        <p:spPr>
          <a:xfrm>
            <a:off x="9467850" y="3957638"/>
            <a:ext cx="3556397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A8A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管理端 · CommandBus · Service · Vehicle · State · Observer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9467850" y="4454723"/>
            <a:ext cx="3798094" cy="259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44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管理端 </a:t>
            </a:r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</a:t>
            </a:r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44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CommandBus : StartUseCommand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9467850" y="4780434"/>
            <a:ext cx="3798094" cy="259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44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CommandBus : [AUDIT] → execute()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9467850" y="5106144"/>
            <a:ext cx="3556397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44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 </a:t>
            </a:r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</a:t>
            </a:r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44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Vehicle : markInUse() + save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9467850" y="5652790"/>
            <a:ext cx="3798094" cy="259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44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 </a:t>
            </a:r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</a:t>
            </a:r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44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: startUse() → InUse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9467850" y="5978500"/>
            <a:ext cx="3556397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44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 </a:t>
            </a:r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</a:t>
            </a:r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44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Observer : notifyStarted · Email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9467850" y="6525146"/>
            <a:ext cx="3798094" cy="259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E7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◂ 200 OK · IN_USE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13349288" y="2352675"/>
            <a:ext cx="3890962" cy="73628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2" name="Shape 70"/>
          <p:cNvSpPr/>
          <p:nvPr/>
        </p:nvSpPr>
        <p:spPr>
          <a:xfrm>
            <a:off x="13349288" y="9705975"/>
            <a:ext cx="3890962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73" name="Shape 71"/>
          <p:cNvSpPr/>
          <p:nvPr/>
        </p:nvSpPr>
        <p:spPr>
          <a:xfrm>
            <a:off x="13349288" y="2352675"/>
            <a:ext cx="3890962" cy="38100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74" name="Shape 72"/>
          <p:cNvSpPr/>
          <p:nvPr/>
        </p:nvSpPr>
        <p:spPr>
          <a:xfrm>
            <a:off x="13349288" y="2352675"/>
            <a:ext cx="9525" cy="73628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75" name="Shape 73"/>
          <p:cNvSpPr/>
          <p:nvPr/>
        </p:nvSpPr>
        <p:spPr>
          <a:xfrm>
            <a:off x="17230725" y="2352675"/>
            <a:ext cx="9525" cy="73628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76" name="Text 74"/>
          <p:cNvSpPr/>
          <p:nvPr/>
        </p:nvSpPr>
        <p:spPr>
          <a:xfrm>
            <a:off x="13568363" y="2619375"/>
            <a:ext cx="94066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 還車</a:t>
            </a:r>
            <a:endParaRPr lang="en-US" sz="2100" dirty="0"/>
          </a:p>
        </p:txBody>
      </p:sp>
      <p:sp>
        <p:nvSpPr>
          <p:cNvPr id="77" name="Text 75"/>
          <p:cNvSpPr/>
          <p:nvPr/>
        </p:nvSpPr>
        <p:spPr>
          <a:xfrm>
            <a:off x="15992103" y="2724150"/>
            <a:ext cx="1105272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RETURNED</a:t>
            </a:r>
            <a:endParaRPr lang="en-US" sz="1350" dirty="0"/>
          </a:p>
        </p:txBody>
      </p:sp>
      <p:sp>
        <p:nvSpPr>
          <p:cNvPr id="78" name="Text 76"/>
          <p:cNvSpPr/>
          <p:nvPr/>
        </p:nvSpPr>
        <p:spPr>
          <a:xfrm>
            <a:off x="13568363" y="3067050"/>
            <a:ext cx="379809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575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/{id}/complete</a:t>
            </a:r>
            <a:endParaRPr lang="en-US" sz="1275" dirty="0"/>
          </a:p>
        </p:txBody>
      </p:sp>
      <p:sp>
        <p:nvSpPr>
          <p:cNvPr id="79" name="Shape 77"/>
          <p:cNvSpPr/>
          <p:nvPr/>
        </p:nvSpPr>
        <p:spPr>
          <a:xfrm>
            <a:off x="13568363" y="3400425"/>
            <a:ext cx="809625" cy="276225"/>
          </a:xfrm>
          <a:prstGeom prst="roundRect">
            <a:avLst>
              <a:gd name="adj" fmla="val 50000"/>
            </a:avLst>
          </a:prstGeom>
          <a:solidFill>
            <a:srgbClr val="F0EDFA"/>
          </a:solidFill>
          <a:ln w="9525">
            <a:solidFill>
              <a:srgbClr val="D6CF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3673138" y="3438525"/>
            <a:ext cx="67627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B31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</a:t>
            </a:r>
            <a:endParaRPr lang="en-US" sz="1125" dirty="0"/>
          </a:p>
        </p:txBody>
      </p:sp>
      <p:sp>
        <p:nvSpPr>
          <p:cNvPr id="81" name="Shape 79"/>
          <p:cNvSpPr/>
          <p:nvPr/>
        </p:nvSpPr>
        <p:spPr>
          <a:xfrm>
            <a:off x="14444663" y="3400425"/>
            <a:ext cx="638175" cy="276225"/>
          </a:xfrm>
          <a:prstGeom prst="roundRect">
            <a:avLst>
              <a:gd name="adj" fmla="val 50000"/>
            </a:avLst>
          </a:prstGeom>
          <a:solidFill>
            <a:srgbClr val="F0EDFA"/>
          </a:solidFill>
          <a:ln w="9525">
            <a:solidFill>
              <a:srgbClr val="D6CF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4549438" y="3438525"/>
            <a:ext cx="50482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B31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</a:t>
            </a:r>
            <a:endParaRPr lang="en-US" sz="1125" dirty="0"/>
          </a:p>
        </p:txBody>
      </p:sp>
      <p:sp>
        <p:nvSpPr>
          <p:cNvPr id="83" name="Shape 81"/>
          <p:cNvSpPr/>
          <p:nvPr/>
        </p:nvSpPr>
        <p:spPr>
          <a:xfrm>
            <a:off x="15149512" y="3400425"/>
            <a:ext cx="895350" cy="276225"/>
          </a:xfrm>
          <a:prstGeom prst="roundRect">
            <a:avLst>
              <a:gd name="adj" fmla="val 50000"/>
            </a:avLst>
          </a:prstGeom>
          <a:solidFill>
            <a:srgbClr val="F0EDFA"/>
          </a:solidFill>
          <a:ln w="9525">
            <a:solidFill>
              <a:srgbClr val="D6CF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5254287" y="3438525"/>
            <a:ext cx="7620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B31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Observer</a:t>
            </a:r>
            <a:endParaRPr lang="en-US" sz="1125" dirty="0"/>
          </a:p>
        </p:txBody>
      </p:sp>
      <p:sp>
        <p:nvSpPr>
          <p:cNvPr id="85" name="Shape 83"/>
          <p:cNvSpPr/>
          <p:nvPr/>
        </p:nvSpPr>
        <p:spPr>
          <a:xfrm>
            <a:off x="16111538" y="3400425"/>
            <a:ext cx="781050" cy="276225"/>
          </a:xfrm>
          <a:prstGeom prst="roundRect">
            <a:avLst>
              <a:gd name="adj" fmla="val 50000"/>
            </a:avLst>
          </a:prstGeom>
          <a:solidFill>
            <a:srgbClr val="FBEEEE"/>
          </a:solidFill>
          <a:ln w="9525">
            <a:solidFill>
              <a:srgbClr val="E3C4C4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6216313" y="3438525"/>
            <a:ext cx="6477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7A3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自動違規</a:t>
            </a:r>
            <a:endParaRPr lang="en-US" sz="1125" dirty="0"/>
          </a:p>
        </p:txBody>
      </p:sp>
      <p:sp>
        <p:nvSpPr>
          <p:cNvPr id="87" name="Shape 85"/>
          <p:cNvSpPr/>
          <p:nvPr/>
        </p:nvSpPr>
        <p:spPr>
          <a:xfrm>
            <a:off x="13568363" y="3819525"/>
            <a:ext cx="3452813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88" name="Text 86"/>
          <p:cNvSpPr/>
          <p:nvPr/>
        </p:nvSpPr>
        <p:spPr>
          <a:xfrm>
            <a:off x="13568363" y="3971925"/>
            <a:ext cx="3556397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A8A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管理端 · CommandBus · Service · Vehicle · Observer · ViolationService</a:t>
            </a:r>
            <a:endParaRPr lang="en-US" sz="1050" dirty="0"/>
          </a:p>
        </p:txBody>
      </p:sp>
      <p:sp>
        <p:nvSpPr>
          <p:cNvPr id="89" name="Text 87"/>
          <p:cNvSpPr/>
          <p:nvPr/>
        </p:nvSpPr>
        <p:spPr>
          <a:xfrm>
            <a:off x="13568363" y="4469011"/>
            <a:ext cx="3798094" cy="259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44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管理端 </a:t>
            </a:r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</a:t>
            </a:r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44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CommandBus : CompleteCommand</a:t>
            </a:r>
            <a:endParaRPr lang="en-US" sz="1200" dirty="0"/>
          </a:p>
        </p:txBody>
      </p:sp>
      <p:sp>
        <p:nvSpPr>
          <p:cNvPr id="90" name="Text 88"/>
          <p:cNvSpPr/>
          <p:nvPr/>
        </p:nvSpPr>
        <p:spPr>
          <a:xfrm>
            <a:off x="13568363" y="4794721"/>
            <a:ext cx="3556397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44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 </a:t>
            </a:r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</a:t>
            </a:r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44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Vehicle : markAvailable + 里程</a:t>
            </a:r>
            <a:endParaRPr lang="en-US" sz="1200" dirty="0"/>
          </a:p>
        </p:txBody>
      </p:sp>
      <p:sp>
        <p:nvSpPr>
          <p:cNvPr id="91" name="Text 89"/>
          <p:cNvSpPr/>
          <p:nvPr/>
        </p:nvSpPr>
        <p:spPr>
          <a:xfrm>
            <a:off x="13568363" y="5341367"/>
            <a:ext cx="3556397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44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 </a:t>
            </a:r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</a:t>
            </a:r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44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: complete() → Returned</a:t>
            </a:r>
            <a:endParaRPr lang="en-US" sz="1200" dirty="0"/>
          </a:p>
        </p:txBody>
      </p:sp>
      <p:sp>
        <p:nvSpPr>
          <p:cNvPr id="92" name="Text 90"/>
          <p:cNvSpPr/>
          <p:nvPr/>
        </p:nvSpPr>
        <p:spPr>
          <a:xfrm>
            <a:off x="13568363" y="5888013"/>
            <a:ext cx="3556397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44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 </a:t>
            </a:r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</a:t>
            </a:r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44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Observer : notifyCompleted · Email</a:t>
            </a:r>
            <a:endParaRPr lang="en-US" sz="1200" dirty="0"/>
          </a:p>
        </p:txBody>
      </p:sp>
      <p:sp>
        <p:nvSpPr>
          <p:cNvPr id="93" name="Text 91"/>
          <p:cNvSpPr/>
          <p:nvPr/>
        </p:nvSpPr>
        <p:spPr>
          <a:xfrm>
            <a:off x="13568363" y="6434658"/>
            <a:ext cx="3556397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7A3B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 逾時 ▸ ViolationService : 建 OVERDUE</a:t>
            </a:r>
            <a:endParaRPr lang="en-US" sz="1200" dirty="0"/>
          </a:p>
        </p:txBody>
      </p:sp>
      <p:sp>
        <p:nvSpPr>
          <p:cNvPr id="94" name="Text 92"/>
          <p:cNvSpPr/>
          <p:nvPr/>
        </p:nvSpPr>
        <p:spPr>
          <a:xfrm>
            <a:off x="13568363" y="6981304"/>
            <a:ext cx="3798094" cy="259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1E7A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◂ 200 OK · RETURNED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38200"/>
            <a:ext cx="173926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225" kern="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— 設計原則 · OOD PRINCIPLES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238250" y="1323975"/>
            <a:ext cx="17392650" cy="81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5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OOD 原則對照</a:t>
            </a:r>
            <a:endParaRPr lang="en-US" sz="5550" dirty="0"/>
          </a:p>
        </p:txBody>
      </p:sp>
      <p:sp>
        <p:nvSpPr>
          <p:cNvPr id="4" name="Shape 2"/>
          <p:cNvSpPr/>
          <p:nvPr/>
        </p:nvSpPr>
        <p:spPr>
          <a:xfrm>
            <a:off x="1238250" y="2385045"/>
            <a:ext cx="15811500" cy="1905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5" name="Shape 3"/>
          <p:cNvSpPr/>
          <p:nvPr/>
        </p:nvSpPr>
        <p:spPr>
          <a:xfrm>
            <a:off x="1238250" y="3471342"/>
            <a:ext cx="15811500" cy="19050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6" name="Text 4"/>
          <p:cNvSpPr/>
          <p:nvPr/>
        </p:nvSpPr>
        <p:spPr>
          <a:xfrm>
            <a:off x="1238250" y="2971279"/>
            <a:ext cx="356235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75" kern="0" dirty="0">
                <a:solidFill>
                  <a:srgbClr val="A8A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PRINCIPLE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4476750" y="2971279"/>
            <a:ext cx="1383030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75" kern="0" dirty="0">
                <a:solidFill>
                  <a:srgbClr val="A8A2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應用位置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238250" y="4400029"/>
            <a:ext cx="1581150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9" name="Text 7"/>
          <p:cNvSpPr/>
          <p:nvPr/>
        </p:nvSpPr>
        <p:spPr>
          <a:xfrm>
            <a:off x="1238250" y="3718992"/>
            <a:ext cx="3562350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SRP 單一職責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4476750" y="3728517"/>
            <a:ext cx="1383030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拆為 Borrowing / Vehicle / Maintenance / User，各有單一修改理由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238250" y="5319192"/>
            <a:ext cx="1581150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12" name="Text 10"/>
          <p:cNvSpPr/>
          <p:nvPr/>
        </p:nvSpPr>
        <p:spPr>
          <a:xfrm>
            <a:off x="1238250" y="4638154"/>
            <a:ext cx="3562350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OCP 開放封閉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4476750" y="4647679"/>
            <a:ext cx="1383030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 新增角色、Observer 新增管道、Strategy 替換演算法，皆免改舊程式碼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238250" y="6238354"/>
            <a:ext cx="1581150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15" name="Text 13"/>
          <p:cNvSpPr/>
          <p:nvPr/>
        </p:nvSpPr>
        <p:spPr>
          <a:xfrm>
            <a:off x="1238250" y="5557317"/>
            <a:ext cx="3562350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 依賴反轉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4476750" y="5566842"/>
            <a:ext cx="1383030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依賴 Repository 介面而非 JPA 實作；Strategy 與 Observer 依抽象注入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238250" y="7157517"/>
            <a:ext cx="1581150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18" name="Text 16"/>
          <p:cNvSpPr/>
          <p:nvPr/>
        </p:nvSpPr>
        <p:spPr>
          <a:xfrm>
            <a:off x="1238250" y="6476479"/>
            <a:ext cx="3562350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LoD 迪米特法則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4476750" y="6486004"/>
            <a:ext cx="1383030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呼叫 </a:t>
            </a:r>
            <a:pPr algn="l" indent="0" marL="0">
              <a:buNone/>
            </a:pPr>
            <a:r>
              <a:rPr lang="en-US" sz="195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request.approve() </a:t>
            </a:r>
            <a:pPr algn="l" indent="0" marL="0">
              <a:buNone/>
            </a:pPr>
            <a:r>
              <a:rPr lang="en-US" sz="225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委派給 State，不直接操作狀態字串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1238250" y="8076679"/>
            <a:ext cx="1581150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21" name="Text 19"/>
          <p:cNvSpPr/>
          <p:nvPr/>
        </p:nvSpPr>
        <p:spPr>
          <a:xfrm>
            <a:off x="1238250" y="7395642"/>
            <a:ext cx="3562350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 不重複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4476750" y="7405167"/>
            <a:ext cx="1383030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AbstractProtectedService </a:t>
            </a:r>
            <a:pPr algn="l" indent="0" marL="0">
              <a:buNone/>
            </a:pPr>
            <a:r>
              <a:rPr lang="en-US" sz="225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統一權限守衛，消除各 Service 重複的 if-throw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238250" y="8314804"/>
            <a:ext cx="3562350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組合優於繼承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4476750" y="8324329"/>
            <a:ext cx="1383030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</a:t>
            </a:r>
            <a:pPr algn="l" indent="0" marL="0">
              <a:buNone/>
            </a:pPr>
            <a:r>
              <a:rPr lang="en-US" sz="225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持有 </a:t>
            </a:r>
            <a:pPr algn="l" indent="0" marL="0">
              <a:buNone/>
            </a:pPr>
            <a:r>
              <a:rPr lang="en-US" sz="195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Set&lt;Role&gt;</a:t>
            </a:r>
            <a:pPr algn="l" indent="0" marL="0">
              <a:buNone/>
            </a:pPr>
            <a:r>
              <a:rPr lang="en-US" sz="225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</a:t>
            </a:r>
            <a:pPr algn="l" indent="0" marL="0">
              <a:buNone/>
            </a:pPr>
            <a:r>
              <a:rPr lang="en-US" sz="195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</a:t>
            </a:r>
            <a:pPr algn="l" indent="0" marL="0">
              <a:buNone/>
            </a:pPr>
            <a:r>
              <a:rPr lang="en-US" sz="225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持有 </a:t>
            </a:r>
            <a:pPr algn="l" indent="0" marL="0">
              <a:buNone/>
            </a:pPr>
            <a:r>
              <a:rPr lang="en-US" sz="195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Set&lt;Permission&gt;</a:t>
            </a:r>
            <a:pPr algn="l" indent="0" marL="0">
              <a:buNone/>
            </a:pPr>
            <a:r>
              <a:rPr lang="en-US" sz="225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，角色以組合擴充</a:t>
            </a:r>
            <a:endParaRPr lang="en-US" sz="2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38200"/>
            <a:ext cx="173926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225" kern="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— 測試 · TESTING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238250" y="1323975"/>
            <a:ext cx="17392650" cy="81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5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測試策略</a:t>
            </a:r>
            <a:endParaRPr lang="en-US" sz="5550" dirty="0"/>
          </a:p>
        </p:txBody>
      </p:sp>
      <p:sp>
        <p:nvSpPr>
          <p:cNvPr id="4" name="Shape 2"/>
          <p:cNvSpPr/>
          <p:nvPr/>
        </p:nvSpPr>
        <p:spPr>
          <a:xfrm>
            <a:off x="1238250" y="2385045"/>
            <a:ext cx="15811500" cy="1905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5" name="Shape 3"/>
          <p:cNvSpPr/>
          <p:nvPr/>
        </p:nvSpPr>
        <p:spPr>
          <a:xfrm>
            <a:off x="1238250" y="2861295"/>
            <a:ext cx="7667625" cy="6701805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04975" y="3308970"/>
            <a:ext cx="1760220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單元測試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6061695" y="3470895"/>
            <a:ext cx="261520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InMemory · 毫秒級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704975" y="4042395"/>
            <a:ext cx="6936200" cy="894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175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 InMemory Repository 實作取代資料庫，不依賴 DB 即可驗證 Service 邏輯。</a:t>
            </a:r>
            <a:endParaRPr lang="en-US" sz="2175" dirty="0"/>
          </a:p>
        </p:txBody>
      </p:sp>
      <p:sp>
        <p:nvSpPr>
          <p:cNvPr id="9" name="Shape 7"/>
          <p:cNvSpPr/>
          <p:nvPr/>
        </p:nvSpPr>
        <p:spPr>
          <a:xfrm>
            <a:off x="1704975" y="5184353"/>
            <a:ext cx="6734175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10" name="Text 8"/>
          <p:cNvSpPr/>
          <p:nvPr/>
        </p:nvSpPr>
        <p:spPr>
          <a:xfrm>
            <a:off x="1704975" y="5479628"/>
            <a:ext cx="23626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2055540" y="5479628"/>
            <a:ext cx="657511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BorrowingServiceTest 送審 / 核准 / 拒絕 / 衝突 / 完整流程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704975" y="6422603"/>
            <a:ext cx="23626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2055540" y="6422603"/>
            <a:ext cx="5895231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VehicleServiceTest 建立 / 查詢 / 刪除 / 權限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704975" y="6979816"/>
            <a:ext cx="23626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2055540" y="6979816"/>
            <a:ext cx="6427946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MaintenanceServiceTest 新增 / 到期提醒 / 權限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704975" y="7537028"/>
            <a:ext cx="23626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2055540" y="7537028"/>
            <a:ext cx="6715586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UserServiceTest 密碼雜湊 / 重複 email / 角色權限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382125" y="2861295"/>
            <a:ext cx="7667625" cy="6701805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48850" y="3308970"/>
            <a:ext cx="1760220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整合測試</a:t>
            </a:r>
            <a:endParaRPr lang="en-US" sz="3150" dirty="0"/>
          </a:p>
        </p:txBody>
      </p:sp>
      <p:sp>
        <p:nvSpPr>
          <p:cNvPr id="20" name="Text 18"/>
          <p:cNvSpPr/>
          <p:nvPr/>
        </p:nvSpPr>
        <p:spPr>
          <a:xfrm>
            <a:off x="13908360" y="3480420"/>
            <a:ext cx="2942131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@WebMvcTest · HTTP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848850" y="4042395"/>
            <a:ext cx="7407593" cy="4662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175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 MockBean 測試 REST 控制器的完整 HTTP 處理鏈。</a:t>
            </a:r>
            <a:endParaRPr lang="en-US" sz="2175" dirty="0"/>
          </a:p>
        </p:txBody>
      </p:sp>
      <p:sp>
        <p:nvSpPr>
          <p:cNvPr id="22" name="Shape 20"/>
          <p:cNvSpPr/>
          <p:nvPr/>
        </p:nvSpPr>
        <p:spPr>
          <a:xfrm>
            <a:off x="9848850" y="4756249"/>
            <a:ext cx="6734175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23" name="Text 21"/>
          <p:cNvSpPr/>
          <p:nvPr/>
        </p:nvSpPr>
        <p:spPr>
          <a:xfrm>
            <a:off x="9848850" y="5051524"/>
            <a:ext cx="23626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0199415" y="5051524"/>
            <a:ext cx="376265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狀態碼與 JSON 序列化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848850" y="5608737"/>
            <a:ext cx="23626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0199415" y="5608737"/>
            <a:ext cx="2416292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認證守衛驗證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9848850" y="6165949"/>
            <a:ext cx="23626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0199415" y="6165949"/>
            <a:ext cx="4576703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權限拒絕 </a:t>
            </a:r>
            <a:pPr algn="l" indent="0" marL="0">
              <a:buNone/>
            </a:pPr>
            <a:r>
              <a:rPr lang="en-US" sz="21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403 </a:t>
            </a:r>
            <a:pPr algn="l" indent="0" marL="0">
              <a:buNone/>
            </a:pPr>
            <a:r>
              <a:rPr lang="en-US" sz="21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未認證 </a:t>
            </a:r>
            <a:pPr algn="l" indent="0" marL="0">
              <a:buNone/>
            </a:pPr>
            <a:r>
              <a:rPr lang="en-US" sz="21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401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9848850" y="8691563"/>
            <a:ext cx="28575" cy="423863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30" name="Text 28"/>
          <p:cNvSpPr/>
          <p:nvPr/>
        </p:nvSpPr>
        <p:spPr>
          <a:xfrm>
            <a:off x="10106025" y="8691563"/>
            <a:ext cx="7124700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可獨立測試 Service，正是 </a:t>
            </a:r>
            <a:pPr algn="l" indent="0" marL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 </a:t>
            </a:r>
            <a:pPr algn="l" indent="0" marL="0">
              <a:lnSpc>
                <a:spcPct val="150000"/>
              </a:lnSpc>
              <a:buNone/>
            </a:pPr>
            <a:r>
              <a:rPr lang="en-US" sz="2100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帶來的直接收益。</a:t>
            </a:r>
            <a:endParaRPr lang="en-US" sz="2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838200"/>
            <a:ext cx="173926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225" kern="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— 部署 · CI/CD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238250" y="1323975"/>
            <a:ext cx="17392650" cy="81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550" b="1" dirty="0">
                <a:solidFill>
                  <a:srgbClr val="1C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CI/CD 自動部署</a:t>
            </a:r>
            <a:endParaRPr lang="en-US" sz="5550" dirty="0"/>
          </a:p>
        </p:txBody>
      </p:sp>
      <p:sp>
        <p:nvSpPr>
          <p:cNvPr id="4" name="Shape 2"/>
          <p:cNvSpPr/>
          <p:nvPr/>
        </p:nvSpPr>
        <p:spPr>
          <a:xfrm>
            <a:off x="1238250" y="2385045"/>
            <a:ext cx="15811500" cy="19050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5" name="Shape 3"/>
          <p:cNvSpPr/>
          <p:nvPr/>
        </p:nvSpPr>
        <p:spPr>
          <a:xfrm>
            <a:off x="1238250" y="4033614"/>
            <a:ext cx="2902967" cy="2462213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2575" y="4366989"/>
            <a:ext cx="250174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552575" y="4809902"/>
            <a:ext cx="2501749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推送 tag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552575" y="5419502"/>
            <a:ext cx="2501749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75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v1.x.x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4312667" y="4033614"/>
            <a:ext cx="457200" cy="2500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1E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865117" y="4033614"/>
            <a:ext cx="3585344" cy="2462213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79442" y="4366989"/>
            <a:ext cx="325236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Actions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5179442" y="4809902"/>
            <a:ext cx="3252363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建置 + 上傳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5179442" y="5419502"/>
            <a:ext cx="304539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Maven 打包 JAR SCP 上傳至 VPS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8621911" y="4033614"/>
            <a:ext cx="457200" cy="2500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1E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9174361" y="4033614"/>
            <a:ext cx="3585270" cy="2462213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88686" y="4366989"/>
            <a:ext cx="325228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 · PM2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9488686" y="4809902"/>
            <a:ext cx="3252281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VPS 重啟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9488686" y="5419502"/>
            <a:ext cx="304531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575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pm2 重啟前後端 :8080 · :5173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2931080" y="4033614"/>
            <a:ext cx="457200" cy="2500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1E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13483530" y="4033614"/>
            <a:ext cx="3566220" cy="2462213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21" name="Text 19"/>
          <p:cNvSpPr/>
          <p:nvPr/>
        </p:nvSpPr>
        <p:spPr>
          <a:xfrm>
            <a:off x="13788330" y="4357464"/>
            <a:ext cx="325228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9AA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Cloudflare Tunnel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3788330" y="4800377"/>
            <a:ext cx="3252281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對外服務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13788330" y="5409977"/>
            <a:ext cx="325228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CDD4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demo.jw-albert.dev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1238250" y="7010177"/>
            <a:ext cx="28575" cy="923404"/>
          </a:xfrm>
          <a:prstGeom prst="rect">
            <a:avLst/>
          </a:prstGeom>
          <a:solidFill>
            <a:srgbClr val="1E2A44"/>
          </a:solidFill>
          <a:ln/>
        </p:spPr>
      </p:sp>
      <p:sp>
        <p:nvSpPr>
          <p:cNvPr id="25" name="Text 23"/>
          <p:cNvSpPr/>
          <p:nvPr/>
        </p:nvSpPr>
        <p:spPr>
          <a:xfrm>
            <a:off x="1514475" y="7010177"/>
            <a:ext cx="11488388" cy="961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325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只在推送 </a:t>
            </a:r>
            <a:pPr algn="l" indent="0" marL="0">
              <a:lnSpc>
                <a:spcPct val="155000"/>
              </a:lnSpc>
              <a:buNone/>
            </a:pPr>
            <a:r>
              <a:rPr lang="en-US" sz="2100" dirty="0">
                <a:solidFill>
                  <a:srgbClr val="1E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v* </a:t>
            </a:r>
            <a:pPr algn="l" indent="0" marL="0">
              <a:lnSpc>
                <a:spcPct val="155000"/>
              </a:lnSpc>
              <a:buNone/>
            </a:pPr>
            <a:r>
              <a:rPr lang="en-US" sz="2325" dirty="0">
                <a:solidFill>
                  <a:srgbClr val="444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時觸發，不監聽 push to main — 精準控制部署時機、節省 Actions 額度。</a:t>
            </a:r>
            <a:endParaRPr lang="en-US" sz="23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914400"/>
            <a:ext cx="173926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225" kern="0" dirty="0">
                <a:solidFill>
                  <a:srgbClr val="9AA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— 結語 · CLOSING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1238250" y="1400175"/>
            <a:ext cx="17392650" cy="813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未來規劃與結語</a:t>
            </a:r>
            <a:endParaRPr lang="en-US" sz="5550" dirty="0"/>
          </a:p>
        </p:txBody>
      </p:sp>
      <p:sp>
        <p:nvSpPr>
          <p:cNvPr id="4" name="Shape 2"/>
          <p:cNvSpPr/>
          <p:nvPr/>
        </p:nvSpPr>
        <p:spPr>
          <a:xfrm>
            <a:off x="1238250" y="2461245"/>
            <a:ext cx="15811500" cy="19050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2994645"/>
            <a:ext cx="7304864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9AA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後續可擴充方向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38250" y="4551983"/>
            <a:ext cx="6640785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238250" y="3647108"/>
            <a:ext cx="117351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545110" y="3561383"/>
            <a:ext cx="5493943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E7EA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新增 SMS / Line 通知管道（目前 Email＋站內收件夾）</a:t>
            </a:r>
            <a:endParaRPr lang="en-US" sz="2175" dirty="0"/>
          </a:p>
        </p:txBody>
      </p:sp>
      <p:sp>
        <p:nvSpPr>
          <p:cNvPr id="9" name="Shape 7"/>
          <p:cNvSpPr/>
          <p:nvPr/>
        </p:nvSpPr>
        <p:spPr>
          <a:xfrm>
            <a:off x="1238250" y="5361608"/>
            <a:ext cx="6640785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238250" y="4856783"/>
            <a:ext cx="13579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Decorator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682255" y="4771058"/>
            <a:ext cx="411954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E7EA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正式環境啟用 30 分鐘緩衝策略</a:t>
            </a:r>
            <a:endParaRPr lang="en-US" sz="2175" dirty="0"/>
          </a:p>
        </p:txBody>
      </p:sp>
      <p:sp>
        <p:nvSpPr>
          <p:cNvPr id="12" name="Shape 10"/>
          <p:cNvSpPr/>
          <p:nvPr/>
        </p:nvSpPr>
        <p:spPr>
          <a:xfrm>
            <a:off x="1238250" y="6171233"/>
            <a:ext cx="6640785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238250" y="5666408"/>
            <a:ext cx="7620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133600" y="5580683"/>
            <a:ext cx="455771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E7EA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新增「每月申請次數上限」驗證器</a:t>
            </a:r>
            <a:endParaRPr lang="en-US" sz="2175" dirty="0"/>
          </a:p>
        </p:txBody>
      </p:sp>
      <p:sp>
        <p:nvSpPr>
          <p:cNvPr id="15" name="Text 13"/>
          <p:cNvSpPr/>
          <p:nvPr/>
        </p:nvSpPr>
        <p:spPr>
          <a:xfrm>
            <a:off x="1238250" y="6476033"/>
            <a:ext cx="10363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AA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407965" y="6390308"/>
            <a:ext cx="395001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E7EA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命令佇列、非同步執行與重試</a:t>
            </a:r>
            <a:endParaRPr lang="en-US" sz="2175" dirty="0"/>
          </a:p>
        </p:txBody>
      </p:sp>
      <p:sp>
        <p:nvSpPr>
          <p:cNvPr id="17" name="Shape 15"/>
          <p:cNvSpPr/>
          <p:nvPr/>
        </p:nvSpPr>
        <p:spPr>
          <a:xfrm>
            <a:off x="8641035" y="2994645"/>
            <a:ext cx="9525" cy="653035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412560" y="2994645"/>
            <a:ext cx="8400909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9AA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三個收穫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412560" y="3599483"/>
            <a:ext cx="25628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300" dirty="0"/>
          </a:p>
        </p:txBody>
      </p:sp>
      <p:sp>
        <p:nvSpPr>
          <p:cNvPr id="20" name="Text 18"/>
          <p:cNvSpPr/>
          <p:nvPr/>
        </p:nvSpPr>
        <p:spPr>
          <a:xfrm>
            <a:off x="9821242" y="3623295"/>
            <a:ext cx="744536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7EA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個 GoF 模式對應真實擴充痛點，其中 4 個用於重構既有設計。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412560" y="4823445"/>
            <a:ext cx="310307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300" dirty="0"/>
          </a:p>
        </p:txBody>
      </p:sp>
      <p:sp>
        <p:nvSpPr>
          <p:cNvPr id="22" name="Text 20"/>
          <p:cNvSpPr/>
          <p:nvPr/>
        </p:nvSpPr>
        <p:spPr>
          <a:xfrm>
            <a:off x="9875267" y="4847258"/>
            <a:ext cx="746652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7EA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· LoD · DRY 等 OOD 原則貫穿分層架構。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412560" y="5590208"/>
            <a:ext cx="307479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9872439" y="5614020"/>
            <a:ext cx="67259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E7EA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介面與 DIP 讓系統可測試、可替換、可擴充。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9412560" y="8391525"/>
            <a:ext cx="7637190" cy="19050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9412560" y="8696325"/>
            <a:ext cx="5643711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CDD4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王建葦 D1210799 · 陳稚翔 D1249623 · 謝謝聆聽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14891891" y="8839200"/>
            <a:ext cx="2234059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demo.jw-albert.dev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2026-06-19T18:27:08Z</dcterms:created>
  <dcterms:modified xsi:type="dcterms:W3CDTF">2026-06-19T18:27:08Z</dcterms:modified>
</cp:coreProperties>
</file>